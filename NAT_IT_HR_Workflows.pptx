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572000" cy="4572000"/>
          </a:xfrm>
          <a:prstGeom prst="ellipse">
            <a:avLst/>
          </a:prstGeom>
          <a:solidFill>
            <a:srgbClr val="0369A1">
              <a:alpha val="25000"/>
            </a:srgbClr>
          </a:solidFill>
          <a:ln w="12700">
            <a:solidFill>
              <a:srgbClr val="0369A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 Portal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Workflows &amp; User Journey Maps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for every role in the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48256" y="3291840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0752" y="3291840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13248" y="3291840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95744" y="3291840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5744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Rep. Manager 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  •  AI Resume Parsing  •  Role-Based Access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roles interact with the HR Portal from login to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804672"/>
          </a:xfrm>
          <a:prstGeom prst="roundRect">
            <a:avLst>
              <a:gd name="adj" fmla="val 1363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188720"/>
            <a:ext cx="1554480" cy="804672"/>
          </a:xfrm>
          <a:prstGeom prst="roundRect">
            <a:avLst>
              <a:gd name="adj" fmla="val 13636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627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detected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1591056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43560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67328" y="1499616"/>
            <a:ext cx="3474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17043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1704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67328" y="2322576"/>
            <a:ext cx="3474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99339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7ED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99339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67328" y="3145536"/>
            <a:ext cx="3474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281635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8163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67328" y="3968496"/>
            <a:ext cx="3474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363931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6393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Rep. Manager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67328" y="4745736"/>
            <a:ext cx="3474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441655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4416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67328" y="1591056"/>
            <a:ext cx="0" cy="3566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560320"/>
            <a:ext cx="1554480" cy="804672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29992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Role-filtered 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118872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98080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148132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19202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0" y="19202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22128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65176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98080" y="2651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294436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38328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498080" y="3383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367588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411480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98080" y="4114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440740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2962656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280720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149961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232257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314553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396849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0" y="474573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0" y="20116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185623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Flow   |   Role 1 — Full System Access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4160520"/>
          </a:xfrm>
          <a:prstGeom prst="roundRect">
            <a:avLst>
              <a:gd name="adj" fmla="val 5455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Mgmt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29844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employee profile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1975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department &amp; designation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65176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 documents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32841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3328416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Assign reporting manager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400507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400507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salary structure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777240"/>
            <a:ext cx="2011680" cy="4160520"/>
          </a:xfrm>
          <a:prstGeom prst="roundRect">
            <a:avLst>
              <a:gd name="adj" fmla="val 5455"/>
            </a:avLst>
          </a:prstGeom>
          <a:solidFill>
            <a:srgbClr val="F18200">
              <a:alpha val="12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777240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7772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129844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18200">
              <a:alpha val="2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129844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job request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14600" y="197510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18200">
              <a:alpha val="2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51176" y="1975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 recruiter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14600" y="265176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18200">
              <a:alpha val="2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51176" y="265176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 candidates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14600" y="332841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18200">
              <a:alpha val="2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3328416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Release offer letter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14600" y="400507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18200">
              <a:alpha val="2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51176" y="400507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Approve onboarding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777240"/>
            <a:ext cx="2011680" cy="4160520"/>
          </a:xfrm>
          <a:prstGeom prst="roundRect">
            <a:avLst>
              <a:gd name="adj" fmla="val 5455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777240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7772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Access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129844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129844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Role Management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197510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5736" y="1975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employee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65176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5736" y="265176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Pick role (radio)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3328416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 — updates users table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00507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400507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Role takes effect on next login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12280" y="777240"/>
            <a:ext cx="2011680" cy="4160520"/>
          </a:xfrm>
          <a:prstGeom prst="roundRect">
            <a:avLst>
              <a:gd name="adj" fmla="val 5455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2280" y="777240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7772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03720" y="129844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129844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Manage permissions per role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03720" y="197510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0296" y="1975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Configure payroll setup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03720" y="265176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0296" y="265176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holiday calendars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03720" y="332841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0296" y="3328416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Manage company settings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03720" y="400507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0296" y="400507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View audit logs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User Flow   |   Role 4 — HR Operations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416052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20624"/>
          </a:xfrm>
          <a:prstGeom prst="roundRect">
            <a:avLst>
              <a:gd name="adj" fmla="val 30435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35024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3350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all open job requests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8653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 / change recruiters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3957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uploaded candidates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926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Shortlist or reject candidates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456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Close open job postings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8678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release offer letters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804672"/>
            <a:ext cx="2743200" cy="416052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804672"/>
            <a:ext cx="2743200" cy="420624"/>
          </a:xfrm>
          <a:prstGeom prst="roundRect">
            <a:avLst>
              <a:gd name="adj" fmla="val 3043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8046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1335024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13350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employee directory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865376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18653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leave requests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39572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23957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/ reject leave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2926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attendance records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45643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3456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 timesheets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986784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398678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IT declarations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804672"/>
            <a:ext cx="2743200" cy="416052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804672"/>
            <a:ext cx="2743200" cy="420624"/>
          </a:xfrm>
          <a:prstGeom prst="roundRect">
            <a:avLst>
              <a:gd name="adj" fmla="val 3043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8046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Settings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1335024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13350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recruitment reports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1865376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18653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Leave summary reports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39572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23957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Payroll overview (view only)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9260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926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 dashboards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45643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3456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Helpdesk ticket management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3986784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398678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change role assignments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User Flow   |   Role 5 — Hiring Pipeline Owner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" y="914400"/>
            <a:ext cx="804672" cy="8046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assigned job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31673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11612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73936" y="914400"/>
            <a:ext cx="804672" cy="8046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27048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Candidate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27048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(PDF/DOCX)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78608" y="131673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612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80944" y="914400"/>
            <a:ext cx="804672" cy="804672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34056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34056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85616" y="131673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11612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87952" y="914400"/>
            <a:ext cx="804672" cy="8046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41064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41064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92624" y="131673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11612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914400"/>
            <a:ext cx="804672" cy="8046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48072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Iv.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48072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round, level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interviewer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9632" y="131673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1612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01968" y="914400"/>
            <a:ext cx="804672" cy="8046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55080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Reject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131673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11612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08976" y="914400"/>
            <a:ext cx="804672" cy="80467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8976" y="914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562088" y="1783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Offer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62088" y="215798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 View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parsed resume fields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" y="369417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AI match score badge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" y="40965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interview history per round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" y="44988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current status (Applied/Shortlisted/Selected)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0" y="283464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10128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Choose round number &amp; level (Technical/HR/Final)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10128" y="369417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date, time, interviewer name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10128" y="40965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 notified automatically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10128" y="44988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rounds supported per candidate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283464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Outcome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36208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rating and written comments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36208" y="369417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 round as: Selected / Rejected / On Hold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36208" y="40965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Once selected: raise offer flag to Admin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36208" y="449884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Round history visible in candidate detail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Manager Flow   |   Role 3 — Team Lead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389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team-filtered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0" cy="1463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8366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836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883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direct reportees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31136"/>
            <a:ext cx="0" cy="1463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377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Approvals: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pending requests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2724912"/>
            <a:ext cx="0" cy="1463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7121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8712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Review: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2871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team attendance records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218688"/>
            <a:ext cx="0" cy="1463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6499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3649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364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appraisal scores for team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712464"/>
            <a:ext cx="0" cy="1463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85876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858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0" y="3858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leave summary &amp; reports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822960"/>
            <a:ext cx="411480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Matrix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1371600"/>
            <a:ext cx="1828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1371600"/>
            <a:ext cx="8229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137160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80960" y="1371600"/>
            <a:ext cx="10058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7536" y="137160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175564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17556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Team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175564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175564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80960" y="175564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17536" y="175564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139696"/>
            <a:ext cx="182880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213969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75120" y="2139696"/>
            <a:ext cx="82296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11696" y="213969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80960" y="2139696"/>
            <a:ext cx="10058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17536" y="213969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5237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25237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75120" y="2523744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11696" y="252374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680960" y="252374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17536" y="252374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2907792"/>
            <a:ext cx="182880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91456" y="29077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675120" y="2907792"/>
            <a:ext cx="82296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11696" y="29077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680960" y="2907792"/>
            <a:ext cx="10058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17536" y="29077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Scores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54880" y="329184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91456" y="32918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329184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11696" y="32918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680960" y="329184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17536" y="329184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754880" y="3675888"/>
            <a:ext cx="182880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91456" y="367588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675888"/>
            <a:ext cx="82296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11696" y="36758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680960" y="3675888"/>
            <a:ext cx="10058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1753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754880" y="405993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91456" y="40599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Mgmt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059936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11696" y="40599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680960" y="4059936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17536" y="405993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User Flow   |   Role 2 — Self-Service Portal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2057400"/>
          </a:xfrm>
          <a:prstGeom prst="roundRect">
            <a:avLst>
              <a:gd name="adj" fmla="val 6222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02336"/>
          </a:xfrm>
          <a:prstGeom prst="roundRect">
            <a:avLst>
              <a:gd name="adj" fmla="val 3181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280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&amp; edit personal info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6642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contact details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20482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account details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24323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profile photo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2057400"/>
          </a:xfrm>
          <a:prstGeom prst="roundRect">
            <a:avLst>
              <a:gd name="adj" fmla="val 6222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402336"/>
          </a:xfrm>
          <a:prstGeom prst="roundRect">
            <a:avLst>
              <a:gd name="adj" fmla="val 3181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1280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for leave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6642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leave balance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20482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request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24323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approved leaves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804672"/>
            <a:ext cx="2743200" cy="2057400"/>
          </a:xfrm>
          <a:prstGeom prst="roundRect">
            <a:avLst>
              <a:gd name="adj" fmla="val 6222"/>
            </a:avLst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804672"/>
            <a:ext cx="2743200" cy="402336"/>
          </a:xfrm>
          <a:prstGeom prst="roundRect">
            <a:avLst>
              <a:gd name="adj" fmla="val 31818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1280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Check-in / Check-out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16642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monthly attendance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20482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attendance report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24323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Regularisation requests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44952"/>
            <a:ext cx="2743200" cy="2057400"/>
          </a:xfrm>
          <a:prstGeom prst="roundRect">
            <a:avLst>
              <a:gd name="adj" fmla="val 6222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044952"/>
            <a:ext cx="2743200" cy="402336"/>
          </a:xfrm>
          <a:prstGeom prst="roundRect">
            <a:avLst>
              <a:gd name="adj" fmla="val 318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44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" y="3520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monthly payslips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" y="39044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payslip PDF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42885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earnings summary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" y="46725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tax deductions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044952"/>
            <a:ext cx="2743200" cy="2057400"/>
          </a:xfrm>
          <a:prstGeom prst="roundRect">
            <a:avLst>
              <a:gd name="adj" fmla="val 6222"/>
            </a:avLst>
          </a:prstGeom>
          <a:solidFill>
            <a:srgbClr val="FB923C">
              <a:alpha val="15000"/>
            </a:srgbClr>
          </a:solidFill>
          <a:ln w="1270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044952"/>
            <a:ext cx="2743200" cy="402336"/>
          </a:xfrm>
          <a:prstGeom prst="roundRect">
            <a:avLst>
              <a:gd name="adj" fmla="val 31818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044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28416" y="3520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tax declarations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28416" y="39044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investment proofs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42885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IT summary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28416" y="46725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approval status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044952"/>
            <a:ext cx="2743200" cy="2057400"/>
          </a:xfrm>
          <a:prstGeom prst="roundRect">
            <a:avLst>
              <a:gd name="adj" fmla="val 6222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3044952"/>
            <a:ext cx="2743200" cy="402336"/>
          </a:xfrm>
          <a:prstGeom prst="roundRect">
            <a:avLst>
              <a:gd name="adj" fmla="val 31818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044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54496" y="3520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 support ticket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39044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ticket status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4496" y="42885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ticket history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54496" y="46725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with HR directly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— End-to-End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at each stage of the hiring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657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100584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56816" y="141732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269748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2697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56816" y="397764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3977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80944" y="1161288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62656" y="10058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27248" y="100584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63824" y="141732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63824" y="269748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697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63824" y="397764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977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candidate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87952" y="1161288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10058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34256" y="100584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70832" y="141732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70832" y="269748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2697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70832" y="397764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3977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1161288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10058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41264" y="100584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264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141732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269748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2697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77840" y="397764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3977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01968" y="1161288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10058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48272" y="100584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84848" y="141732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3136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84848" y="269748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03136" y="2697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784848" y="397764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03136" y="3977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offer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(flag only)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808976" y="1161288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90688" y="10058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955280" y="100584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91856" y="141732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0144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91856" y="269748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10144" y="2697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991856" y="3977640"/>
            <a:ext cx="1024128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10144" y="3977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Parsing — Step-by-Step 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71016" y="18745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987552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uploads file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 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form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96312" y="18745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45336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2224" y="98755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91056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file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91056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middleware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 /uploads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21608" y="18745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98755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16352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16352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for PDF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 for DOCX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46904" y="18745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95928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42816" y="987552"/>
            <a:ext cx="548640" cy="548640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41648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OpenAI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41648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6000 chars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18745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987552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66944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back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66944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skills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exp, education, role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97496" y="18745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3408" y="987552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computed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60%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40%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71816" y="914400"/>
            <a:ext cx="1042416" cy="1920240"/>
          </a:xfrm>
          <a:prstGeom prst="roundRect">
            <a:avLst>
              <a:gd name="adj" fmla="val 10526"/>
            </a:avLst>
          </a:prstGeom>
          <a:solidFill>
            <a:srgbClr val="FB923C">
              <a:alpha val="20000"/>
            </a:srgbClr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18704" y="987552"/>
            <a:ext cx="548640" cy="5486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18704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17536" y="15910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17536" y="202996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record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table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0632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1272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20240" y="3127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OPENAI_API_KEY is not configured — system automatically falls back to regex-based extraction (keyword matching for skills, pattern matching for experience/email/phone). Zero downtime.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84048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895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extracted by GPT-4o mini: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4048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16736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16736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49424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9424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82112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82112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 ]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14800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0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047488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47488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Education[ ]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80176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0176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12864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12864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845552" y="4279392"/>
            <a:ext cx="877824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45552" y="42793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Company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role routing on every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1E3A5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143000"/>
            <a:ext cx="493776" cy="4937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143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600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44475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5156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0369A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493776" cy="493776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170992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1600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44475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05156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76672" y="1143000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143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18304" y="170992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38544" y="1600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144475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05156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52944" y="1143000"/>
            <a:ext cx="493776" cy="4937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2944" y="1143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94576" y="170992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refresh token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7432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4128" y="2834640"/>
            <a:ext cx="493776" cy="49377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40156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(localStorage)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32918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31363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50592" y="27432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2700">
            <a:solidFill>
              <a:srgbClr val="F1820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834640"/>
            <a:ext cx="493776" cy="493776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42032" y="340156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Bearer token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62272" y="32918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62272" y="31363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26864" y="27432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EE2E2"/>
          </a:solidFill>
          <a:ln w="12700">
            <a:solidFill>
              <a:srgbClr val="DC262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76672" y="2834640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18304" y="340156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permission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38544" y="32918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31363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03136" y="27432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 w="12700">
            <a:solidFill>
              <a:srgbClr val="6B728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52944" y="2834640"/>
            <a:ext cx="493776" cy="49377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94576" y="340156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served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403 denied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94192" y="1691640"/>
            <a:ext cx="0" cy="8686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02752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1993392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1879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4320" y="45262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1 day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Refresh: 7 days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50592" y="4160520"/>
            <a:ext cx="1993392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0592" y="41879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Check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450592" y="45262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Per-module: 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26864" y="4160520"/>
            <a:ext cx="1993392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6864" y="41879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Auth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626864" y="45262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401 / 403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error message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03136" y="4160520"/>
            <a:ext cx="1993392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03136" y="41879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03136" y="45262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stored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never saved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Management Flow — Role by Role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3977640"/>
          </a:xfrm>
          <a:prstGeom prst="roundRect">
            <a:avLst>
              <a:gd name="adj" fmla="val 6364"/>
            </a:avLst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011680" cy="402336"/>
          </a:xfrm>
          <a:prstGeom prst="roundRect">
            <a:avLst>
              <a:gd name="adj" fmla="val 3181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Selected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28016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01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Recruiter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82496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candidate as Selected after interview feedback.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offer flag in the system.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04288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804672"/>
            <a:ext cx="2011680" cy="3977640"/>
          </a:xfrm>
          <a:prstGeom prst="roundRect">
            <a:avLst>
              <a:gd name="adj" fmla="val 6364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804672"/>
            <a:ext cx="2011680" cy="402336"/>
          </a:xfrm>
          <a:prstGeom prst="roundRect">
            <a:avLst>
              <a:gd name="adj" fmla="val 3181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Created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78608" y="128016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34D399">
              <a:alpha val="4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2801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Admin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78608" y="1682496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offer in Offers page.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CTC, joining date, and other terms.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98848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2011680" cy="3977640"/>
          </a:xfrm>
          <a:prstGeom prst="roundRect">
            <a:avLst>
              <a:gd name="adj" fmla="val 6364"/>
            </a:avLst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804672"/>
            <a:ext cx="2011680" cy="402336"/>
          </a:xfrm>
          <a:prstGeom prst="roundRect">
            <a:avLst>
              <a:gd name="adj" fmla="val 31818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Released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3168" y="128016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F18200">
              <a:alpha val="40000"/>
            </a:srgbClr>
          </a:solidFill>
          <a:ln w="12700">
            <a:solidFill>
              <a:srgbClr val="F18200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2801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Admin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1682496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"Release Offer".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status updated to Released.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3408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804672"/>
            <a:ext cx="2011680" cy="3977640"/>
          </a:xfrm>
          <a:prstGeom prst="roundRect">
            <a:avLst>
              <a:gd name="adj" fmla="val 6364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804672"/>
            <a:ext cx="2011680" cy="402336"/>
          </a:xfrm>
          <a:prstGeom prst="roundRect">
            <a:avLst>
              <a:gd name="adj" fmla="val 318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804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Responds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67728" y="128016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12801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Admin Tracks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67728" y="1682496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accepts or rejects the offer.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status: Accepted / Rejected.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Progression: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35608" y="347472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536192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0369A1">
              <a:alpha val="30000"/>
            </a:srgbClr>
          </a:solidFill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36192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347472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98064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98064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59352" y="347472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059936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9936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Draft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21224" y="347472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321808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21808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83096" y="347472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83680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44968" y="347472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845552" y="3429000"/>
            <a:ext cx="1152144" cy="402336"/>
          </a:xfrm>
          <a:prstGeom prst="roundRect">
            <a:avLst>
              <a:gd name="adj" fmla="val 27273"/>
            </a:avLst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4290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2011680"/>
            <a:ext cx="1645920" cy="10972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755648"/>
            <a:ext cx="3566160" cy="804672"/>
          </a:xfrm>
          <a:prstGeom prst="line">
            <a:avLst/>
          </a:prstGeom>
          <a:noFill/>
          <a:ln w="12700">
            <a:solidFill>
              <a:srgbClr val="0369A1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0175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560320"/>
            <a:ext cx="3566160" cy="841248"/>
          </a:xfrm>
          <a:prstGeom prst="line">
            <a:avLst/>
          </a:prstGeom>
          <a:noFill/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77724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777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161288"/>
            <a:ext cx="2103120" cy="1399032"/>
          </a:xfrm>
          <a:prstGeom prst="line">
            <a:avLst/>
          </a:prstGeom>
          <a:noFill/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77724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77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Parser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161288"/>
            <a:ext cx="2377440" cy="1399032"/>
          </a:xfrm>
          <a:prstGeom prst="line">
            <a:avLst/>
          </a:prstGeom>
          <a:noFill/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37160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371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755648"/>
            <a:ext cx="3657600" cy="804672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30175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560320"/>
            <a:ext cx="3657600" cy="841248"/>
          </a:xfrm>
          <a:prstGeom prst="line">
            <a:avLst/>
          </a:prstGeom>
          <a:noFill/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9319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931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560320"/>
            <a:ext cx="2377440" cy="1755648"/>
          </a:xfrm>
          <a:prstGeom prst="line">
            <a:avLst/>
          </a:prstGeom>
          <a:noFill/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39319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6B7280">
              <a:alpha val="20000"/>
            </a:srgbClr>
          </a:solidFill>
          <a:ln w="12700">
            <a:solidFill>
              <a:srgbClr val="6B728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931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2560320"/>
            <a:ext cx="2103120" cy="1755648"/>
          </a:xfrm>
          <a:prstGeom prst="line">
            <a:avLst/>
          </a:prstGeom>
          <a:noFill/>
          <a:ln w="12700">
            <a:solidFill>
              <a:srgbClr val="6B7280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91440"/>
            <a:ext cx="91440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Flow Summary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56616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with access: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84832" y="448056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Mgr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03904" y="448056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0369A1">
              <a:alpha val="30000"/>
            </a:srgbClr>
          </a:solidFill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22976" y="448056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2976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Rep.Mgr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42048" y="448056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840480"/>
            <a:ext cx="3200400" cy="3200400"/>
          </a:xfrm>
          <a:prstGeom prst="ellipse">
            <a:avLst/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role. Every flow. One platform.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 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Edition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1691640" cy="1234440"/>
          </a:xfrm>
          <a:prstGeom prst="roundRect">
            <a:avLst>
              <a:gd name="adj" fmla="val 10370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9067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730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3063240"/>
            <a:ext cx="1691640" cy="1234440"/>
          </a:xfrm>
          <a:prstGeom prst="roundRect">
            <a:avLst>
              <a:gd name="adj" fmla="val 10370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09067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34640" y="3730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1691640" cy="1234440"/>
          </a:xfrm>
          <a:prstGeom prst="roundRect">
            <a:avLst>
              <a:gd name="adj" fmla="val 10370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09067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3730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3063240"/>
            <a:ext cx="1691640" cy="1234440"/>
          </a:xfrm>
          <a:prstGeom prst="roundRect">
            <a:avLst>
              <a:gd name="adj" fmla="val 10370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09067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75120" y="3730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Node.js  •  MySQL  •  JWT  •  OpenAI GPT-4o mini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IT HR Portal — Workflows &amp; User Flows</dc:title>
  <dc:subject>PptxGenJS Presentation</dc:subject>
  <dc:creator>PptxGenJS</dc:creator>
  <cp:lastModifiedBy>PptxGenJS</cp:lastModifiedBy>
  <cp:revision>1</cp:revision>
  <dcterms:created xsi:type="dcterms:W3CDTF">2026-07-07T08:20:27Z</dcterms:created>
  <dcterms:modified xsi:type="dcterms:W3CDTF">2026-07-07T08:20:27Z</dcterms:modified>
</cp:coreProperties>
</file>