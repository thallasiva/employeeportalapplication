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5486400" cy="5486400"/>
          </a:xfrm>
          <a:prstGeom prst="ellipse">
            <a:avLst/>
          </a:prstGeom>
          <a:solidFill>
            <a:srgbClr val="0369A1">
              <a:alpha val="18000"/>
            </a:srgbClr>
          </a:solidFill>
          <a:ln w="12700">
            <a:solidFill>
              <a:srgbClr val="0369A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474720"/>
            <a:ext cx="3200400" cy="3200400"/>
          </a:xfrm>
          <a:prstGeom prst="ellipse">
            <a:avLst/>
          </a:prstGeom>
          <a:solidFill>
            <a:srgbClr val="F18200">
              <a:alpha val="15000"/>
            </a:srgbClr>
          </a:solidFill>
          <a:ln w="12700">
            <a:solidFill>
              <a:srgbClr val="F1820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2926080"/>
            <a:ext cx="2286000" cy="22860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58368"/>
            <a:ext cx="2651760" cy="347472"/>
          </a:xfrm>
          <a:prstGeom prst="roundRect">
            <a:avLst>
              <a:gd name="adj" fmla="val 52632"/>
            </a:avLst>
          </a:prstGeom>
          <a:solidFill>
            <a:srgbClr val="F18200">
              <a:alpha val="25000"/>
            </a:srgbClr>
          </a:solidFill>
          <a:ln w="12700">
            <a:solidFill>
              <a:srgbClr val="F18200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83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HR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Your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Operations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48640" y="2670048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powerful platform to hire, manage, pay, and grow your people — from day one to day done.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18200"/>
          </a:solidFill>
          <a:ln w="12700">
            <a:solidFill>
              <a:srgbClr val="F182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520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Demo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97480" y="352044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0A1628">
              <a:alpha val="40000"/>
            </a:srgbClr>
          </a:solidFill>
          <a:ln w="12700">
            <a:solidFill>
              <a:srgbClr val="94A3B8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3520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315968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0369A1">
              <a:alpha val="2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3251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" y="4636008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67128" y="43251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48256" y="4636008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Modules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31336" y="43251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12464" y="4636008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Screening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95544" y="43251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76672" y="4636008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Security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159752" y="43251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4636008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ound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Familiar?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HR challenges organisations face every 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2336" y="131673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316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9264" y="133502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HR Processes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84708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for leave, attendance and payroll — prone to errors, hard to audit, impossible to scale.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74320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28416" y="131673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1316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95344" y="133502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Inefficient Hiring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184708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postings, CVs, interview scheduling all managed across different tools with no single view of the pipeline.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74320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54496" y="131673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316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21424" y="133502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Role-Based Control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36208" y="184708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sees everything. Sensitive payroll, offer letters, and employee data exposed to the wrong people.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274320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02336" y="319125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3191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9264" y="320954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Visibility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372160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dashboards, no reports, no way to know who is on leave, who is underperforming, or who needs a raise.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063240"/>
            <a:ext cx="274320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28416" y="319125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28416" y="3191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895344" y="320954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Employee Experience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10128" y="372160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call HR for every payslip, leave balance, or document request — wasting time on both sides.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063240"/>
            <a:ext cx="274320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54496" y="319125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3191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21424" y="320954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Resume Screening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36208" y="372160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hundreds of resumes by hand, missing top candidates, losing competitive advantage in the hiring market.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0369A1">
              <a:alpha val="15000"/>
            </a:srgbClr>
          </a:solidFill>
          <a:ln w="12700">
            <a:solidFill>
              <a:srgbClr val="0369A1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IT HR Portal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60320" cy="475488"/>
          </a:xfrm>
          <a:prstGeom prst="roundRect">
            <a:avLst>
              <a:gd name="adj" fmla="val 23077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All-in-One Platform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920240"/>
            <a:ext cx="2560320" cy="475488"/>
          </a:xfrm>
          <a:prstGeom prst="roundRect">
            <a:avLst>
              <a:gd name="adj" fmla="val 23077"/>
            </a:avLst>
          </a:prstGeom>
          <a:solidFill>
            <a:srgbClr val="F18200">
              <a:alpha val="20000"/>
            </a:srgbClr>
          </a:solidFill>
          <a:ln w="12700">
            <a:solidFill>
              <a:srgbClr val="F18200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920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Secure &amp; Role-Based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2560320" cy="475488"/>
          </a:xfrm>
          <a:prstGeom prst="roundRect">
            <a:avLst>
              <a:gd name="adj" fmla="val 23077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920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AI-Powered Hiring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578608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IT HR Portal is a complete, cloud-ready Human Resource Management System built for growing organisations. From the moment a candidate applies to the day an employee retires — every HR process is handled in one secure, intuitive platform.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74320" y="3730752"/>
            <a:ext cx="2011680" cy="1115568"/>
          </a:xfrm>
          <a:prstGeom prst="roundRect">
            <a:avLst>
              <a:gd name="adj" fmla="val 11475"/>
            </a:avLst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7856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Faster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422452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screens resumes in seconds, not days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8880" y="3730752"/>
            <a:ext cx="2011680" cy="1115568"/>
          </a:xfrm>
          <a:prstGeom prst="roundRect">
            <a:avLst>
              <a:gd name="adj" fmla="val 11475"/>
            </a:avLst>
          </a:prstGeom>
          <a:solidFill>
            <a:srgbClr val="F18200">
              <a:alpha val="15000"/>
            </a:srgbClr>
          </a:solidFill>
          <a:ln w="12700">
            <a:solidFill>
              <a:srgbClr val="F18200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37856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Better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68880" y="422452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Leave, attendance, payroll — all automated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730752"/>
            <a:ext cx="2011680" cy="1115568"/>
          </a:xfrm>
          <a:prstGeom prst="roundRect">
            <a:avLst>
              <a:gd name="adj" fmla="val 11475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7856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Compliant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422452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trails, encrypted data, role controls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0" y="3730752"/>
            <a:ext cx="2011680" cy="1115568"/>
          </a:xfrm>
          <a:prstGeom prst="roundRect">
            <a:avLst>
              <a:gd name="adj" fmla="val 11475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37856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Smarter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422452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and analytics built 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ound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HR Needs — In One Platform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762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2336" y="969264"/>
            <a:ext cx="566928" cy="566928"/>
          </a:xfrm>
          <a:prstGeom prst="ellipse">
            <a:avLst/>
          </a:prstGeom>
          <a:solidFill>
            <a:srgbClr val="0369A1">
              <a:alpha val="15000"/>
            </a:srgbClr>
          </a:solidFill>
          <a:ln w="12700">
            <a:solidFill>
              <a:srgbClr val="0369A1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9692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60704" y="987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609344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employee profiles, org charts, document management, and onboarding workflows.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804672"/>
            <a:ext cx="274320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762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28416" y="969264"/>
            <a:ext cx="566928" cy="566928"/>
          </a:xfrm>
          <a:prstGeom prst="ellipse">
            <a:avLst/>
          </a:prstGeom>
          <a:solidFill>
            <a:srgbClr val="F18200">
              <a:alpha val="15000"/>
            </a:srgbClr>
          </a:solidFill>
          <a:ln w="12700">
            <a:solidFill>
              <a:srgbClr val="F18200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416" y="9692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986784" y="987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&amp; Hiring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609344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hiring pipeline — job postings, AI resume screening, interviews, and offer letters.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804672"/>
            <a:ext cx="274320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762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54496" y="969264"/>
            <a:ext cx="566928" cy="566928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9692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12864" y="987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&amp; Attendance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36208" y="1609344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leave applications, manager approvals, holiday calendars, and attendance tracking.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274320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762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02336" y="2999232"/>
            <a:ext cx="566928" cy="566928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2999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60704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Processing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" y="3639312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salary computation, payslip generation, YTD statements, and tax compliance forms.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834640"/>
            <a:ext cx="274320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762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28416" y="2999232"/>
            <a:ext cx="566928" cy="566928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28416" y="2999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986784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Management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10128" y="3639312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 cycles, KPI tracking, review workflows, and performance dashboards.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834640"/>
            <a:ext cx="274320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762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54496" y="2999232"/>
            <a:ext cx="566928" cy="56692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2999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🎫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912864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Helpdesk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36208" y="3639312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ticketing, IT declarations, resignation management, and HR self-service portal.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oundRect">
            <a:avLst/>
          </a:prstGeom>
          <a:solidFill>
            <a:srgbClr val="F18200"/>
          </a:solidFill>
          <a:ln w="12700">
            <a:solidFill>
              <a:srgbClr val="F18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the Best People — Faster Than Ever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recruitment pipeline that takes your team from job post to signed offer in record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261872"/>
            <a:ext cx="1591056" cy="3429000"/>
          </a:xfrm>
          <a:prstGeom prst="roundRect">
            <a:avLst>
              <a:gd name="adj" fmla="val 8046"/>
            </a:avLst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0EA5E9">
              <a:alpha val="70000"/>
            </a:srgbClr>
          </a:solidFill>
          <a:ln w="12700">
            <a:solidFill>
              <a:srgbClr val="0EA5E9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10896" y="242316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the Job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" y="2944368"/>
            <a:ext cx="14447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role, required skills, experience level, and assign your recruiting team in minutes.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56232" y="2606040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93392" y="1261872"/>
            <a:ext cx="1591056" cy="3429000"/>
          </a:xfrm>
          <a:prstGeom prst="roundRect">
            <a:avLst>
              <a:gd name="adj" fmla="val 8046"/>
            </a:avLst>
          </a:prstGeom>
          <a:solidFill>
            <a:srgbClr val="F18200">
              <a:alpha val="12000"/>
            </a:srgbClr>
          </a:solidFill>
          <a:ln w="12700">
            <a:solidFill>
              <a:srgbClr val="F18200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57400" y="1325880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F18200">
              <a:alpha val="70000"/>
            </a:srgbClr>
          </a:solidFill>
          <a:ln w="12700">
            <a:solidFill>
              <a:srgbClr val="F18200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132588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1460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048256" y="242316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Applications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66544" y="2944368"/>
            <a:ext cx="14447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upload their resume. AI instantly parses and scores every CV against your job criteria.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93592" y="2606040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30752" y="1261872"/>
            <a:ext cx="1591056" cy="3429000"/>
          </a:xfrm>
          <a:prstGeom prst="roundRect">
            <a:avLst>
              <a:gd name="adj" fmla="val 8046"/>
            </a:avLst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94760" y="1325880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A78BFA">
              <a:alpha val="70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132588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5196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785616" y="242316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&amp; Shortlist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03904" y="2944368"/>
            <a:ext cx="14447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AI match scores, shortlist the best fits, and reject unsuitable candidates with one click.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30952" y="2606040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68112" y="1261872"/>
            <a:ext cx="1591056" cy="3429000"/>
          </a:xfrm>
          <a:prstGeom prst="roundRect">
            <a:avLst>
              <a:gd name="adj" fmla="val 8046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32120" y="1325880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34D399">
              <a:alpha val="70000"/>
            </a:srgbClr>
          </a:solidFill>
          <a:ln w="1270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132588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8932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🎤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522976" y="242316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Rounds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41264" y="2944368"/>
            <a:ext cx="14447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multiple interview rounds, track feedback from each interviewer, and keep full history.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068312" y="2606040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205472" y="1261872"/>
            <a:ext cx="1591056" cy="3429000"/>
          </a:xfrm>
          <a:prstGeom prst="roundRect">
            <a:avLst>
              <a:gd name="adj" fmla="val 8046"/>
            </a:avLst>
          </a:prstGeom>
          <a:solidFill>
            <a:srgbClr val="FB923C">
              <a:alpha val="12000"/>
            </a:srgbClr>
          </a:solidFill>
          <a:ln w="12700">
            <a:solidFill>
              <a:srgbClr val="FB923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69480" y="1325880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FB923C">
              <a:alpha val="70000"/>
            </a:srgbClr>
          </a:solidFill>
          <a:ln w="12700">
            <a:solidFill>
              <a:srgbClr val="FB923C">
                <a:alpha val="7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132588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72668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260336" y="242316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Offer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78624" y="2944368"/>
            <a:ext cx="14447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raises and releases the official offer letter. Track acceptance and move to onboarding.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ound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Resume Screening — Stop Guessing, Start Knowing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41148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762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961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47472" cy="347472"/>
          </a:xfrm>
          <a:prstGeom prst="ellipse">
            <a:avLst/>
          </a:prstGeom>
          <a:solidFill>
            <a:srgbClr val="F18200"/>
          </a:solidFill>
          <a:ln w="12700">
            <a:solidFill>
              <a:srgbClr val="F18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417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uploads their resume (PDF or Word)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347472" cy="347472"/>
          </a:xfrm>
          <a:prstGeom prst="ellipse">
            <a:avLst/>
          </a:prstGeom>
          <a:solidFill>
            <a:srgbClr val="F18200"/>
          </a:solidFill>
          <a:ln w="12700">
            <a:solidFill>
              <a:srgbClr val="F182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1965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reads and extracts all key information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47472" cy="347472"/>
          </a:xfrm>
          <a:prstGeom prst="ellipse">
            <a:avLst/>
          </a:prstGeom>
          <a:solidFill>
            <a:srgbClr val="F18200"/>
          </a:solidFill>
          <a:ln w="12700">
            <a:solidFill>
              <a:srgbClr val="F182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4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2514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compares candidate skills vs. job requirements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347472" cy="347472"/>
          </a:xfrm>
          <a:prstGeom prst="ellipse">
            <a:avLst/>
          </a:prstGeom>
          <a:solidFill>
            <a:srgbClr val="F18200"/>
          </a:solidFill>
          <a:ln w="12700">
            <a:solidFill>
              <a:srgbClr val="F182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" y="3063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 score from 0-100 is instantly generated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347472" cy="347472"/>
          </a:xfrm>
          <a:prstGeom prst="ellipse">
            <a:avLst/>
          </a:prstGeom>
          <a:solidFill>
            <a:srgbClr val="F18200"/>
          </a:solidFill>
          <a:ln w="12700">
            <a:solidFill>
              <a:srgbClr val="F182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36118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see ranked candidates — best fit first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87952"/>
            <a:ext cx="3474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OpenAI GPT-4o mini — the same AI used by the world's leading companies.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804672"/>
            <a:ext cx="4297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76200" dir="27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36592" y="8961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Extracts Instantly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63440" y="1371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Name &amp; Contact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66560" y="1371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Technical Skills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63440" y="17922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Years of Experience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66560" y="17922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Education History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63440" y="22128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Current Role &amp; Company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66560" y="22128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Professional Summary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0" y="2944368"/>
            <a:ext cx="4297680" cy="1975104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76200" dir="27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36592" y="30358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Match Score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63440" y="3511296"/>
            <a:ext cx="4114800" cy="384048"/>
          </a:xfrm>
          <a:prstGeom prst="roundRect">
            <a:avLst>
              <a:gd name="adj" fmla="val 19048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5112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80-100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0" y="35112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Suitable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3968496"/>
            <a:ext cx="411480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9684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65-79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69280" y="39684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4425696"/>
            <a:ext cx="411480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44256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45-64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0" y="44256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Suitable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4882896"/>
            <a:ext cx="4114800" cy="384048"/>
          </a:xfrm>
          <a:prstGeom prst="roundRect">
            <a:avLst>
              <a:gd name="adj" fmla="val 1904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48828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69280" y="48828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Suitable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People See the Right Information — Always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distinct user roles ensure your data stays protected without slowing anyone down.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1609344" cy="3657600"/>
          </a:xfrm>
          <a:prstGeom prst="roundRect">
            <a:avLst>
              <a:gd name="adj" fmla="val 7955"/>
            </a:avLst>
          </a:prstGeom>
          <a:solidFill>
            <a:srgbClr val="7F1D1D"/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98448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83464" y="187452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35915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system access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85292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 all employees and roles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334670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Release offer letters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384048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Configure system settings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4334256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all reports &amp; analytics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84248" y="1234440"/>
            <a:ext cx="1609344" cy="3657600"/>
          </a:xfrm>
          <a:prstGeom prst="roundRect">
            <a:avLst>
              <a:gd name="adj" fmla="val 7955"/>
            </a:avLst>
          </a:prstGeom>
          <a:solidFill>
            <a:srgbClr val="7C2D12"/>
          </a:solidFill>
          <a:ln w="12700">
            <a:solidFill>
              <a:srgbClr val="F18200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84248" y="1298448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39112" y="187452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75688" y="235915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 employee records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75688" y="285292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Shortlist job candidates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75688" y="334670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leave requests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75688" y="384048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Close job postings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75688" y="4334256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 HR reports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39896" y="1234440"/>
            <a:ext cx="1609344" cy="3657600"/>
          </a:xfrm>
          <a:prstGeom prst="roundRect">
            <a:avLst>
              <a:gd name="adj" fmla="val 7955"/>
            </a:avLst>
          </a:prstGeom>
          <a:solidFill>
            <a:srgbClr val="1E3A5F"/>
          </a:solidFill>
          <a:ln w="1270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9896" y="1298448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794760" y="187452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31336" y="235915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 assigned job openings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31336" y="285292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 &amp; screen candidates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31336" y="334670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Schedule interview rounds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31336" y="384048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Collect interviewer feedback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31336" y="4334256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Flag candidates for offers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95544" y="1234440"/>
            <a:ext cx="1609344" cy="3657600"/>
          </a:xfrm>
          <a:prstGeom prst="roundRect">
            <a:avLst>
              <a:gd name="adj" fmla="val 7955"/>
            </a:avLst>
          </a:prstGeom>
          <a:solidFill>
            <a:srgbClr val="3B0764"/>
          </a:solidFill>
          <a:ln w="12700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95544" y="1298448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550408" y="187452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Manager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86984" y="235915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their direct team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86984" y="285292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team leave requests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86984" y="334670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team attendance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86984" y="384048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Submit performance scores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86984" y="4334256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 team reports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51192" y="1234440"/>
            <a:ext cx="1609344" cy="3657600"/>
          </a:xfrm>
          <a:prstGeom prst="roundRect">
            <a:avLst>
              <a:gd name="adj" fmla="val 7955"/>
            </a:avLst>
          </a:prstGeom>
          <a:solidFill>
            <a:srgbClr val="1F2937"/>
          </a:solidFill>
          <a:ln w="12700">
            <a:solidFill>
              <a:srgbClr val="9CA3AF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51192" y="1298448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306056" y="187452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42632" y="235915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own profile &amp; documents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42632" y="285292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for leave online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42632" y="334670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Download payslips anytime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42632" y="384048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Submit IT declaration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42632" y="4334256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Raise helpdesk requests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ound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Better Experience for Every Employee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3200400" cy="4114800"/>
          </a:xfrm>
          <a:prstGeom prst="roundRect">
            <a:avLst>
              <a:gd name="adj" fmla="val 4000"/>
            </a:avLst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96012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Your Team with Self-Service HR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20624" y="1920240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chasing HR for payslips, leave balances, or documents. Employees handle it themselves — anytime, anywhere.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0624" y="2889504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2889504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Instant payslip downloads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" y="3310128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3310128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leave balance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" y="3730752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3730752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Online leave applications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0624" y="4151376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4151376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IT declaration portal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49040" y="804672"/>
            <a:ext cx="246888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762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77056" y="932688"/>
            <a:ext cx="512064" cy="512064"/>
          </a:xfrm>
          <a:prstGeom prst="ellipse">
            <a:avLst/>
          </a:prstGeom>
          <a:solidFill>
            <a:srgbClr val="0369A1">
              <a:alpha val="15000"/>
            </a:srgbClr>
          </a:solidFill>
          <a:ln w="12700">
            <a:solidFill>
              <a:srgbClr val="0369A1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932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480560" y="969264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Profile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58768" y="1517904"/>
            <a:ext cx="22494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view and update their personal details, emergency contacts, and bank information securely.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804672"/>
            <a:ext cx="246888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762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28816" y="932688"/>
            <a:ext cx="512064" cy="512064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28816" y="932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0" y="969264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0528" y="1517904"/>
            <a:ext cx="22494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any leave type online. Track approval status in real time. View full leave history.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49040" y="2907792"/>
            <a:ext cx="246888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762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77056" y="3035808"/>
            <a:ext cx="512064" cy="512064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77056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480560" y="3072384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&amp; Payslips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58768" y="3621024"/>
            <a:ext cx="22494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monthly payslips, view year-to-date earnings, and access full tax statements anytime.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2907792"/>
            <a:ext cx="246888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76200" dir="27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28816" y="3035808"/>
            <a:ext cx="512064" cy="512064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28816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🎫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132320" y="3072384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10528" y="3621024"/>
            <a:ext cx="22494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support tickets for HR queries. Track status, get responses, and resolve issues faster.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 Built In From Day One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2011680" cy="4114800"/>
          </a:xfrm>
          <a:prstGeom prst="roundRect">
            <a:avLst>
              <a:gd name="adj" fmla="val 6364"/>
            </a:avLst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87782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10896" y="146304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47472" y="202996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Industry-standard JWT token authentication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257860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Encrypted password storage — never stored as plain text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312724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 expiry and secure logout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367588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 multi-factor authentication (MFA)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32304" y="804672"/>
            <a:ext cx="2011680" cy="4114800"/>
          </a:xfrm>
          <a:prstGeom prst="roundRect">
            <a:avLst>
              <a:gd name="adj" fmla="val 6364"/>
            </a:avLst>
          </a:prstGeom>
          <a:solidFill>
            <a:srgbClr val="F18200">
              <a:alpha val="12000"/>
            </a:srgbClr>
          </a:solidFill>
          <a:ln w="12700">
            <a:solidFill>
              <a:srgbClr val="F18200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87782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87168" y="146304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23744" y="202996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pre-defined roles with granular permissions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23744" y="257860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Module-level access: view, add, edit, delete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23744" y="312724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Sensitive data hidden from unauthorised roles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23744" y="367588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can assign and change roles instantly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08576" y="804672"/>
            <a:ext cx="2011680" cy="4114800"/>
          </a:xfrm>
          <a:prstGeom prst="roundRect">
            <a:avLst>
              <a:gd name="adj" fmla="val 6364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8576" y="87782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663440" y="146304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00016" y="202996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Salary data encrypted in the database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00016" y="257860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file uploads validated and scanned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0016" y="312724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Protected API endpoints on every route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0016" y="367588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audit trail for critical actions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84848" y="804672"/>
            <a:ext cx="2011680" cy="4114800"/>
          </a:xfrm>
          <a:prstGeom prst="roundRect">
            <a:avLst>
              <a:gd name="adj" fmla="val 6364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4848" y="87782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839712" y="146304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Ready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76288" y="202996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Tax forms and IT declaration workflows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76288" y="257860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Leave compliance with holiday calendars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76288" y="312724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Payroll records with YTD audit statements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76288" y="367588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retention policies configurable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ound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Leading Organisations Choose NAT IT HR Portal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762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02336" y="932688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02336" y="167335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Hiring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" y="2039112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screening reduces manual shortlisting from days to minutes.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04672"/>
            <a:ext cx="274320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762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28416" y="932688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28416" y="167335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Paperwork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28416" y="2039112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leave, payroll, and HR processes go fully digital from day one.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804672"/>
            <a:ext cx="274320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762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54496" y="932688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54496" y="167335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Security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54496" y="2039112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sees only what they need to — no data leaks, no over-sharing.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07792"/>
            <a:ext cx="274320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762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2336" y="3035808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02336" y="377647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Access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2336" y="4142232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access payslips, apply for leave, and update profiles anytime.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907792"/>
            <a:ext cx="274320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762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28416" y="3035808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328416" y="377647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for All HR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28416" y="4142232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Recruitment, payroll, leave, performance — all in one system, not ten different tools.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907792"/>
            <a:ext cx="274320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762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54496" y="3035808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254496" y="377647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54496" y="4142232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on hiring, headcount, leave, and performance at your fingertips.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is Simple — We Handle Everything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sign-up to go-live in just a few steps — no technical expertise required from your team.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591056" cy="3520440"/>
          </a:xfrm>
          <a:prstGeom prst="roundRect">
            <a:avLst>
              <a:gd name="adj" fmla="val 8046"/>
            </a:avLst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53312"/>
            <a:ext cx="768096" cy="7680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533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9184" y="221284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14081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understand your organisation, team size, and specific HR requirements.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74520" y="2468880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11680" y="1234440"/>
            <a:ext cx="1591056" cy="3520440"/>
          </a:xfrm>
          <a:prstGeom prst="roundRect">
            <a:avLst>
              <a:gd name="adj" fmla="val 8046"/>
            </a:avLst>
          </a:prstGeom>
          <a:solidFill>
            <a:srgbClr val="F18200">
              <a:alpha val="12000"/>
            </a:srgbClr>
          </a:solidFill>
          <a:ln w="12700">
            <a:solidFill>
              <a:srgbClr val="F18200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1353312"/>
            <a:ext cx="768096" cy="768096"/>
          </a:xfrm>
          <a:prstGeom prst="ellipse">
            <a:avLst/>
          </a:prstGeom>
          <a:solidFill>
            <a:srgbClr val="F18200"/>
          </a:solidFill>
          <a:ln w="12700">
            <a:solidFill>
              <a:srgbClr val="F182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3533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66544" y="221284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Config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2743200"/>
            <a:ext cx="14081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configure roles, departments, and permissions to match your structure.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11880" y="2468880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49040" y="1234440"/>
            <a:ext cx="1591056" cy="3520440"/>
          </a:xfrm>
          <a:prstGeom prst="roundRect">
            <a:avLst>
              <a:gd name="adj" fmla="val 8046"/>
            </a:avLst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0520" y="1353312"/>
            <a:ext cx="768096" cy="7680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13533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803904" y="221284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0" y="2743200"/>
            <a:ext cx="14081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existing employee records are imported cleanly and securely.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49240" y="2468880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0" y="1234440"/>
            <a:ext cx="1591056" cy="3520440"/>
          </a:xfrm>
          <a:prstGeom prst="roundRect">
            <a:avLst>
              <a:gd name="adj" fmla="val 8046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1353312"/>
            <a:ext cx="768096" cy="7680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3533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41264" y="221284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77840" y="2743200"/>
            <a:ext cx="14081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training for Admin, HR, Managers, and Employees.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86600" y="2468880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223760" y="1234440"/>
            <a:ext cx="1591056" cy="3520440"/>
          </a:xfrm>
          <a:prstGeom prst="roundRect">
            <a:avLst>
              <a:gd name="adj" fmla="val 8046"/>
            </a:avLst>
          </a:prstGeom>
          <a:solidFill>
            <a:srgbClr val="FB923C">
              <a:alpha val="12000"/>
            </a:srgbClr>
          </a:solidFill>
          <a:ln w="12700">
            <a:solidFill>
              <a:srgbClr val="FB923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35240" y="1353312"/>
            <a:ext cx="768096" cy="768096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35240" y="13533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78624" y="221284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0" y="2743200"/>
            <a:ext cx="14081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is live. We monitor and support you every step of the way.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ound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IT HR Portal vs. The Old Way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520440" y="749808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20440" y="7498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NAT IT HR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72200" y="749808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72200" y="7498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NAT IT HR Portal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35024"/>
            <a:ext cx="3154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33502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Screening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1335024"/>
            <a:ext cx="2468880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33502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— takes hours per role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2200" y="1335024"/>
            <a:ext cx="265176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33502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scores every resume instantly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810512"/>
            <a:ext cx="31546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81051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0440" y="1810512"/>
            <a:ext cx="2468880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181051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Emails, spreadsheets, lost requests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1810512"/>
            <a:ext cx="265176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81051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Online — applied, approved, tracked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286000"/>
            <a:ext cx="3154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2860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Processing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20440" y="2286000"/>
            <a:ext cx="2468880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22860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calculations, high error rate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72200" y="2286000"/>
            <a:ext cx="265176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2860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Automated — accurate every time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761488"/>
            <a:ext cx="31546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76148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20440" y="2761488"/>
            <a:ext cx="2468880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276148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Everyone accesses shared files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2761488"/>
            <a:ext cx="265176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27614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5-role system — need-to-know only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236976"/>
            <a:ext cx="3154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23697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Requests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20440" y="3236976"/>
            <a:ext cx="2468880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6160" y="323697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Calls and emails to HR team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72200" y="3236976"/>
            <a:ext cx="265176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323697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Self-service portal — 24/7 access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3712464"/>
            <a:ext cx="31546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371246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Pipeline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520440" y="3712464"/>
            <a:ext cx="2468880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66160" y="371246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visibility — candidates lost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72200" y="3712464"/>
            <a:ext cx="265176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371246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End-to-end tracked in one place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4187952"/>
            <a:ext cx="3154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418795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Reviews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520440" y="4187952"/>
            <a:ext cx="2468880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66160" y="418795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Annual, paper-based, subjective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72200" y="4187952"/>
            <a:ext cx="265176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418795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Continuous, digital, data-driven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4320" y="4663440"/>
            <a:ext cx="31546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" y="466344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Insights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520440" y="4663440"/>
            <a:ext cx="2468880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66160" y="46634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Weeks to compile reports manually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172200" y="4663440"/>
            <a:ext cx="265176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0" y="46634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dashboards — always current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474720"/>
            <a:ext cx="3657600" cy="3657600"/>
          </a:xfrm>
          <a:prstGeom prst="ellipse">
            <a:avLst/>
          </a:prstGeom>
          <a:solidFill>
            <a:srgbClr val="F18200">
              <a:alpha val="12000"/>
            </a:srgbClr>
          </a:solidFill>
          <a:ln w="12700">
            <a:solidFill>
              <a:srgbClr val="F1820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914400"/>
            <a:ext cx="3657600" cy="36576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4114800"/>
            <a:ext cx="2286000" cy="22860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Transform Your HR?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15214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organisations that have already moved their HR into the modern era.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2560320" cy="2286000"/>
          </a:xfrm>
          <a:prstGeom prst="roundRect">
            <a:avLst>
              <a:gd name="adj" fmla="val 7200"/>
            </a:avLst>
          </a:prstGeom>
          <a:solidFill>
            <a:srgbClr val="7C2D12"/>
          </a:solidFill>
          <a:ln w="12700">
            <a:solidFill>
              <a:srgbClr val="F18200">
                <a:alpha val="60000"/>
              </a:srgbClr>
            </a:solidFill>
            <a:prstDash val="solid"/>
          </a:ln>
          <a:effectLst>
            <a:outerShdw sx="100000" sy="100000" kx="0" ky="0" algn="bl" rotWithShape="0" blurRad="203200" dist="762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8288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🎥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76072" y="243230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Demo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907792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feature live with your own data. No commitment required.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737360"/>
            <a:ext cx="2560320" cy="2286000"/>
          </a:xfrm>
          <a:prstGeom prst="roundRect">
            <a:avLst>
              <a:gd name="adj" fmla="val 7200"/>
            </a:avLst>
          </a:prstGeom>
          <a:solidFill>
            <a:srgbClr val="1E3A5F"/>
          </a:solidFill>
          <a:ln w="12700">
            <a:solidFill>
              <a:srgbClr val="0EA5E9">
                <a:alpha val="60000"/>
              </a:srgbClr>
            </a:solidFill>
            <a:prstDash val="solid"/>
          </a:ln>
          <a:effectLst>
            <a:outerShdw sx="100000" sy="100000" kx="0" ky="0" algn="bl" rotWithShape="0" blurRad="203200" dist="762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8288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10712" y="243230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Our Team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907792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to an HR technology expert and get answers to your questions.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737360"/>
            <a:ext cx="2560320" cy="2286000"/>
          </a:xfrm>
          <a:prstGeom prst="roundRect">
            <a:avLst>
              <a:gd name="adj" fmla="val 7200"/>
            </a:avLst>
          </a:prstGeom>
          <a:solidFill>
            <a:srgbClr val="064E3B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203200" dist="762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18288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45352" y="243230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Trial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2907792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full access for 30 days. No credit card. No technical setup needed.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1B2E4B"/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2519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IT Solutions  |  www.natit.com  |  contact@natit.com  |  +91 XXXXX XXXXX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 IT HR Portal — Marketing Deck</dc:title>
  <dc:subject>PptxGenJS Presentation</dc:subject>
  <dc:creator>PptxGenJS</dc:creator>
  <cp:lastModifiedBy>PptxGenJS</cp:lastModifiedBy>
  <cp:revision>1</cp:revision>
  <dcterms:created xsi:type="dcterms:W3CDTF">2026-07-07T09:37:20Z</dcterms:created>
  <dcterms:modified xsi:type="dcterms:W3CDTF">2026-07-07T09:37:20Z</dcterms:modified>
</cp:coreProperties>
</file>