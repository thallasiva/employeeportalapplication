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163050"/>
          </a:solidFill>
          <a:ln w="12700">
            <a:solidFill>
              <a:srgbClr val="16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199632" y="1463040"/>
            <a:ext cx="54864" cy="219456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254496" y="0"/>
            <a:ext cx="18288" cy="5143500"/>
          </a:xfrm>
          <a:prstGeom prst="rect">
            <a:avLst/>
          </a:prstGeom>
          <a:solidFill>
            <a:srgbClr val="2A4A70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22960"/>
            <a:ext cx="2377440" cy="347472"/>
          </a:xfrm>
          <a:prstGeom prst="roundRect">
            <a:avLst>
              <a:gd name="adj" fmla="val 31579"/>
            </a:avLst>
          </a:prstGeom>
          <a:solidFill>
            <a:srgbClr val="E8870A"/>
          </a:solidFill>
          <a:ln w="12700">
            <a:solidFill>
              <a:srgbClr val="E8870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2296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ENTERPRISE HR SOLUTION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325880"/>
            <a:ext cx="5486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0" b="1" spc="600" kern="0" dirty="0">
                <a:solidFill>
                  <a:srgbClr val="FFFFFF"/>
                </a:solidFill>
              </a:rPr>
              <a:t>HRMS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A8C4E0"/>
                </a:solidFill>
              </a:rPr>
              <a:t>Human Resource</a:t>
            </a:r>
            <a:endParaRPr lang="en-US" sz="2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A8C4E0"/>
                </a:solidFill>
              </a:rPr>
              <a:t>Management System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57200" y="352044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7AABCF"/>
                </a:solidFill>
              </a:rPr>
              <a:t>One platform to hire, onboard, pay, and grow your people.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37960" y="11887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017"/>
                </a:solidFill>
              </a:rPr>
              <a:t>10+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537960" y="17190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E0"/>
                </a:solidFill>
              </a:rPr>
              <a:t>Modules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49440" y="2103120"/>
            <a:ext cx="1371600" cy="18288"/>
          </a:xfrm>
          <a:prstGeom prst="rect">
            <a:avLst/>
          </a:prstGeom>
          <a:solidFill>
            <a:srgbClr val="2A4A70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3317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017"/>
                </a:solidFill>
              </a:rPr>
              <a:t>100%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6537960" y="28620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E0"/>
                </a:solidFill>
              </a:rPr>
              <a:t>Cloud Ready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949440" y="3246120"/>
            <a:ext cx="1371600" cy="18288"/>
          </a:xfrm>
          <a:prstGeom prst="rect">
            <a:avLst/>
          </a:prstGeom>
          <a:solidFill>
            <a:srgbClr val="2A4A70"/>
          </a:solidFill>
          <a:ln w="12700">
            <a:solidFill>
              <a:srgbClr val="2A4A7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37960" y="347472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4A017"/>
                </a:solidFill>
              </a:rPr>
              <a:t>5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6537960" y="400507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E0"/>
                </a:solidFill>
              </a:rPr>
              <a:t>User Roles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4773168"/>
            <a:ext cx="9144000" cy="374904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4773168"/>
            <a:ext cx="8229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090AA"/>
                </a:solidFill>
              </a:rPr>
              <a:t>NAT IT Solutions  ·  www.natit.in  ·  hr@natit.in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8046720" y="4773168"/>
            <a:ext cx="7315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7090AA"/>
                </a:solidFill>
              </a:rPr>
              <a:t>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HR Challenge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8C4E0"/>
                </a:solidFill>
              </a:rPr>
              <a:t>Managing people manually is expensive, error-prone, and time-consuming.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170432"/>
            <a:ext cx="1920240" cy="3566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170432"/>
            <a:ext cx="1920240" cy="201168"/>
          </a:xfrm>
          <a:prstGeom prst="rect">
            <a:avLst/>
          </a:prstGeom>
          <a:solidFill>
            <a:srgbClr val="E8870A"/>
          </a:solidFill>
          <a:ln w="12700">
            <a:solidFill>
              <a:srgbClr val="E887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📋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93776" y="199339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Scattered Data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12064" y="2395728"/>
            <a:ext cx="16642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Employee info spread across spreadsheets, emails, and paper files — hard to find, easy to lose.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523744" y="1170432"/>
            <a:ext cx="1920240" cy="3566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23744" y="1170432"/>
            <a:ext cx="1920240" cy="201168"/>
          </a:xfrm>
          <a:prstGeom prst="rect">
            <a:avLst/>
          </a:prstGeom>
          <a:solidFill>
            <a:srgbClr val="E8870A"/>
          </a:solidFill>
          <a:ln w="12700">
            <a:solidFill>
              <a:srgbClr val="E887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523744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💸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33472" y="199339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Payroll Errors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51760" y="2395728"/>
            <a:ext cx="16642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Manual calculations lead to compliance failures, wrong deductions, and costly penalties.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1170432"/>
            <a:ext cx="1920240" cy="3566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3440" y="1170432"/>
            <a:ext cx="1920240" cy="201168"/>
          </a:xfrm>
          <a:prstGeom prst="rect">
            <a:avLst/>
          </a:prstGeom>
          <a:solidFill>
            <a:srgbClr val="E8870A"/>
          </a:solidFill>
          <a:ln w="12700">
            <a:solidFill>
              <a:srgbClr val="E887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773168" y="199339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Slow Processes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91456" y="2395728"/>
            <a:ext cx="16642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Leave approvals, onboarding, and appraisals take weeks instead of hours.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803136" y="1170432"/>
            <a:ext cx="1920240" cy="3566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03136" y="1170432"/>
            <a:ext cx="1920240" cy="201168"/>
          </a:xfrm>
          <a:prstGeom prst="rect">
            <a:avLst/>
          </a:prstGeom>
          <a:solidFill>
            <a:srgbClr val="E8870A"/>
          </a:solidFill>
          <a:ln w="12700">
            <a:solidFill>
              <a:srgbClr val="E8870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03136" y="14173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⚠️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6912864" y="1993392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Compliance Risk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31152" y="2395728"/>
            <a:ext cx="1664208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Missing PF, ESI, TDS, and labour law filings expose companies to fines and audits.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846320"/>
            <a:ext cx="9144000" cy="29260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84632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These challenges cost businesses 30%+ in HR operational overhead every year.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389120" cy="5143500"/>
          </a:xfrm>
          <a:prstGeom prst="rect">
            <a:avLst/>
          </a:prstGeom>
          <a:solidFill>
            <a:srgbClr val="163050"/>
          </a:solidFill>
          <a:ln w="12700">
            <a:solidFill>
              <a:srgbClr val="163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370832" y="0"/>
            <a:ext cx="36576" cy="5143500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</a:rPr>
              <a:t>OUR SOLUTION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One Platform.</a:t>
            </a:r>
            <a:endParaRPr lang="en-US" sz="30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Every HR Function.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3657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A8C4E0"/>
                </a:solidFill>
              </a:rPr>
              <a:t>HRMS is a full-stack, cloud-deployed HR platform that covers the entire employee lifecycle — from the first job posting to the final exit interview — in a single, unified system.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63440" y="502920"/>
            <a:ext cx="1993392" cy="713232"/>
          </a:xfrm>
          <a:prstGeom prst="roundRect">
            <a:avLst>
              <a:gd name="adj" fmla="val 15385"/>
            </a:avLst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50292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🎯 Recruitment &amp; Hiring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0" y="502920"/>
            <a:ext cx="1993392" cy="713232"/>
          </a:xfrm>
          <a:prstGeom prst="roundRect">
            <a:avLst>
              <a:gd name="adj" fmla="val 15385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67728" y="502920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👤 Employee Management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663440" y="1581912"/>
            <a:ext cx="1993392" cy="713232"/>
          </a:xfrm>
          <a:prstGeom prst="roundRect">
            <a:avLst>
              <a:gd name="adj" fmla="val 15385"/>
            </a:avLst>
          </a:prstGeom>
          <a:solidFill>
            <a:srgbClr val="E8870A"/>
          </a:solidFill>
          <a:ln w="12700">
            <a:solidFill>
              <a:srgbClr val="E8870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73168" y="158191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💰 Payroll &amp; Compliance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0" y="1581912"/>
            <a:ext cx="1993392" cy="713232"/>
          </a:xfrm>
          <a:prstGeom prst="roundRect">
            <a:avLst>
              <a:gd name="adj" fmla="val 1538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67728" y="1581912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📅 Leave &amp; Attendance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663440" y="2660904"/>
            <a:ext cx="1993392" cy="713232"/>
          </a:xfrm>
          <a:prstGeom prst="roundRect">
            <a:avLst>
              <a:gd name="adj" fmla="val 15385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73168" y="266090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⭐ Appraisal &amp; KRA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858000" y="2660904"/>
            <a:ext cx="1993392" cy="713232"/>
          </a:xfrm>
          <a:prstGeom prst="roundRect">
            <a:avLst>
              <a:gd name="adj" fmla="val 15385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967728" y="2660904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📝 IT Declaration &amp; Tax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663440" y="3739896"/>
            <a:ext cx="1993392" cy="713232"/>
          </a:xfrm>
          <a:prstGeom prst="roundRect">
            <a:avLst>
              <a:gd name="adj" fmla="val 15385"/>
            </a:avLst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73168" y="3739896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🚪 Resignation &amp; Exit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58000" y="3739896"/>
            <a:ext cx="1993392" cy="713232"/>
          </a:xfrm>
          <a:prstGeom prst="roundRect">
            <a:avLst>
              <a:gd name="adj" fmla="val 15385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67728" y="3739896"/>
            <a:ext cx="18288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🎫 Helpdesk &amp; Timesheet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Recruitment &amp; Hiring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0"/>
                </a:solidFill>
              </a:rPr>
              <a:t>End-to-end talent acquisition — from job posting to joining invitation.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1556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Job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Posting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865376" y="138988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▶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03120" y="1115568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0284C7"/>
          </a:solidFill>
          <a:ln w="12700">
            <a:solidFill>
              <a:srgbClr val="0284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103120" y="111556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Candidate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Pool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3584448" y="138988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822192" y="1115568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22192" y="111556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Interview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Panel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303520" y="138988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541264" y="1115568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E8870A"/>
          </a:solidFill>
          <a:ln w="12700">
            <a:solidFill>
              <a:srgbClr val="E887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41264" y="111556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Offer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Letter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022592" y="1389888"/>
            <a:ext cx="2011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▶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260336" y="1115568"/>
            <a:ext cx="1463040" cy="914400"/>
          </a:xfrm>
          <a:prstGeom prst="roundRect">
            <a:avLst>
              <a:gd name="adj" fmla="val 12000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260336" y="1115568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Joining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Invite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84048" y="2240280"/>
            <a:ext cx="39319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84048" y="2240280"/>
            <a:ext cx="164592" cy="1024128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" y="2331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AI Resume Matching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6656" y="266090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Automatic skills extraction and candidate-to-job scoring.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663440" y="2240280"/>
            <a:ext cx="39319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663440" y="2240280"/>
            <a:ext cx="164592" cy="1024128"/>
          </a:xfrm>
          <a:prstGeom prst="rect">
            <a:avLst/>
          </a:prstGeom>
          <a:solidFill>
            <a:srgbClr val="E8870A"/>
          </a:solidFill>
          <a:ln w="12700">
            <a:solidFill>
              <a:srgbClr val="E8870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23317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Interview Scheduling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956048" y="266090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Multi-round interviews with panel feedback and hire/no-hire recommendation.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84048" y="3474720"/>
            <a:ext cx="39319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84048" y="3474720"/>
            <a:ext cx="164592" cy="102412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76656" y="35661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Offer Letter PDF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76656" y="389534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Auto-generated offer letters with full salary breakup, emailed instantly.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3474720"/>
            <a:ext cx="3931920" cy="1024128"/>
          </a:xfrm>
          <a:prstGeom prst="roundRect">
            <a:avLst>
              <a:gd name="adj" fmla="val 10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663440" y="3474720"/>
            <a:ext cx="164592" cy="102412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956048" y="35661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Online Joining Form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56048" y="3895344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4748B"/>
                </a:solidFill>
              </a:rPr>
              <a:t>9-tab digital formalities — handbook, bank details, PF, insurance nominees and more.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Payroll &amp; Statutory Compliance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</a:rPr>
              <a:t>Automated calculations, zero manual errors, full regulatory compliance.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078992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789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017"/>
                </a:solidFill>
              </a:rPr>
              <a:t>100%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384048" y="1600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Auto PF / ESI / TDS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505456" y="1078992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05456" y="10789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017"/>
                </a:solidFill>
              </a:rPr>
              <a:t>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05456" y="1600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Payroll Modes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26864" y="1078992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26864" y="10789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017"/>
                </a:solidFill>
              </a:rPr>
              <a:t>0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26864" y="1600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Manual Errors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48272" y="1078992"/>
            <a:ext cx="1828800" cy="914400"/>
          </a:xfrm>
          <a:prstGeom prst="roundRect">
            <a:avLst>
              <a:gd name="adj" fmla="val 12000"/>
            </a:avLst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748272" y="10789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4A017"/>
                </a:solidFill>
              </a:rPr>
              <a:t>PDF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748272" y="16002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rgbClr val="E2E8F0"/>
                </a:solidFill>
              </a:rPr>
              <a:t>Payslip Delivery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84048" y="2176272"/>
            <a:ext cx="39319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2176272"/>
            <a:ext cx="164592" cy="1115568"/>
          </a:xfrm>
          <a:prstGeom prst="rect">
            <a:avLst/>
          </a:prstGeom>
          <a:solidFill>
            <a:srgbClr val="E8870A"/>
          </a:solidFill>
          <a:ln w="12700">
            <a:solidFill>
              <a:srgbClr val="E887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226771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Formula Engine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76656" y="2615184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Fixed, % of basic, and formula-driven components. Handles GROSS-dependent calculations automatically.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2176272"/>
            <a:ext cx="39319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63440" y="2176272"/>
            <a:ext cx="164592" cy="1115568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226771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Salary Structure Builder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56048" y="2615184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3-step wizard or enterprise grid to build salary templates and assign to employees with effective dates.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84048" y="3502152"/>
            <a:ext cx="39319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3502152"/>
            <a:ext cx="164592" cy="11155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76656" y="359359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Statutory Deductions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76656" y="3941064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Auto-computed: PF (12% basic), ESI (0.75%), Professional Tax, Gratuity (4.81%), TDS (Old/New regime).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663440" y="3502152"/>
            <a:ext cx="393192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3440" y="3502152"/>
            <a:ext cx="164592" cy="11155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56048" y="359359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</a:rPr>
              <a:t>Compliance Reports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56048" y="3941064"/>
            <a:ext cx="35204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PF ECR, ESI Challan, Form 16 (Part A &amp; B), Payroll Statement, YTD summary — all one-click exports.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754880" y="0"/>
            <a:ext cx="4389120" cy="51435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</a:rPr>
              <a:t>LEAVE &amp; ATTENDANCE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5488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Leave Management</a:t>
            </a:r>
            <a:endParaRPr lang="en-US" sz="2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&amp; Attendance Tracking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3749040" cy="475488"/>
          </a:xfrm>
          <a:prstGeom prst="roundRect">
            <a:avLst>
              <a:gd name="adj" fmla="val 23077"/>
            </a:avLst>
          </a:prstGeom>
          <a:solidFill>
            <a:srgbClr val="1A3354"/>
          </a:solidFill>
          <a:ln w="12700">
            <a:solidFill>
              <a:srgbClr val="1A335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920240"/>
            <a:ext cx="109728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92024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0"/>
                </a:solidFill>
              </a:rPr>
              <a:t>Configurable leave types: CL, SL, EL, LOP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57200" y="2505456"/>
            <a:ext cx="3749040" cy="475488"/>
          </a:xfrm>
          <a:prstGeom prst="roundRect">
            <a:avLst>
              <a:gd name="adj" fmla="val 23077"/>
            </a:avLst>
          </a:prstGeom>
          <a:solidFill>
            <a:srgbClr val="1A3354"/>
          </a:solidFill>
          <a:ln w="12700">
            <a:solidFill>
              <a:srgbClr val="1A335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505456"/>
            <a:ext cx="109728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50545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0"/>
                </a:solidFill>
              </a:rPr>
              <a:t>Annual holiday calendar with exclusions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090672"/>
            <a:ext cx="3749040" cy="475488"/>
          </a:xfrm>
          <a:prstGeom prst="roundRect">
            <a:avLst>
              <a:gd name="adj" fmla="val 23077"/>
            </a:avLst>
          </a:prstGeom>
          <a:solidFill>
            <a:srgbClr val="1A3354"/>
          </a:solidFill>
          <a:ln w="12700">
            <a:solidFill>
              <a:srgbClr val="1A335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090672"/>
            <a:ext cx="109728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09067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0"/>
                </a:solidFill>
              </a:rPr>
              <a:t>Visual leave calendar — personal &amp; team view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3675888"/>
            <a:ext cx="3749040" cy="475488"/>
          </a:xfrm>
          <a:prstGeom prst="roundRect">
            <a:avLst>
              <a:gd name="adj" fmla="val 23077"/>
            </a:avLst>
          </a:prstGeom>
          <a:solidFill>
            <a:srgbClr val="1A3354"/>
          </a:solidFill>
          <a:ln w="12700">
            <a:solidFill>
              <a:srgbClr val="1A335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675888"/>
            <a:ext cx="109728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67588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0"/>
                </a:solidFill>
              </a:rPr>
              <a:t>Carry-forward and encashment processing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57200" y="4261104"/>
            <a:ext cx="3749040" cy="475488"/>
          </a:xfrm>
          <a:prstGeom prst="roundRect">
            <a:avLst>
              <a:gd name="adj" fmla="val 23077"/>
            </a:avLst>
          </a:prstGeom>
          <a:solidFill>
            <a:srgbClr val="1A3354"/>
          </a:solidFill>
          <a:ln w="12700">
            <a:solidFill>
              <a:srgbClr val="1A335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4261104"/>
            <a:ext cx="109728" cy="47548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26110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DCF0"/>
                </a:solidFill>
              </a:rPr>
              <a:t>Automated LOP deduction into payroll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3480" y="27432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Attendance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919472" y="868680"/>
            <a:ext cx="3858768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868680"/>
            <a:ext cx="502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577840" y="941832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Daily Punch Tracking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577840" y="12344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Biometric or admin import. Captures in/out, hours, status.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919472" y="1892808"/>
            <a:ext cx="3858768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1892808"/>
            <a:ext cx="502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✏️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5577840" y="19659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Regularization Requests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77840" y="2258568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Employee requests fix; manager approves with full audit.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919472" y="2916936"/>
            <a:ext cx="3858768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0" y="2916936"/>
            <a:ext cx="502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📊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5577840" y="299008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Admin Dashboard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577840" y="3282696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Present / Absent / Late counts. Monthly drill-down per employee.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4919472" y="3941064"/>
            <a:ext cx="3858768" cy="859536"/>
          </a:xfrm>
          <a:prstGeom prst="roundRect">
            <a:avLst>
              <a:gd name="adj" fmla="val 1276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029200" y="3941064"/>
            <a:ext cx="50292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5577840" y="4014216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Payroll Integration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577840" y="4306824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64748B"/>
                </a:solidFill>
              </a:rPr>
              <a:t>Absent days beyond balance auto-convert to LOP deductions.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Employee Self-Service &amp; Performance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8C4F8"/>
                </a:solidFill>
              </a:rPr>
              <a:t>Empower your people — every employee gets a personalised dashboard.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115568"/>
            <a:ext cx="182880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115568"/>
            <a:ext cx="1828800" cy="201168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37160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84048" y="1773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My Profile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1993392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Personal, work, bank &amp; documents.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468880" y="1115568"/>
            <a:ext cx="182880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468880" y="1115568"/>
            <a:ext cx="1828800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68880" y="1371600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468880" y="1773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My Payslips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542032" y="1993392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Download PDF payslips anytime.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" y="2414016"/>
            <a:ext cx="182880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" y="2414016"/>
            <a:ext cx="1828800" cy="201168"/>
          </a:xfrm>
          <a:prstGeom prst="rect">
            <a:avLst/>
          </a:prstGeom>
          <a:solidFill>
            <a:srgbClr val="E8870A"/>
          </a:solidFill>
          <a:ln w="12700">
            <a:solidFill>
              <a:srgbClr val="E8870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2670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84048" y="30723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Apply Leave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329184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Submit, track and manage leave.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2468880" y="2414016"/>
            <a:ext cx="182880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468880" y="2414016"/>
            <a:ext cx="1828800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68880" y="2670048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⏱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2468880" y="307238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Attendance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2542032" y="3291840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View monthly attendance calendar.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84048" y="3712464"/>
            <a:ext cx="182880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84048" y="3712464"/>
            <a:ext cx="1828800" cy="20116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84048" y="396849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📝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384048" y="4370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IT Declaration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57200" y="459028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Submit 80C, HRA, regime choice.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2468880" y="3712464"/>
            <a:ext cx="1828800" cy="1115568"/>
          </a:xfrm>
          <a:prstGeom prst="roundRect">
            <a:avLst>
              <a:gd name="adj" fmla="val 98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468880" y="3712464"/>
            <a:ext cx="1828800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0" y="3968496"/>
            <a:ext cx="1828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🎫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2468880" y="4370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E3A5F"/>
                </a:solidFill>
              </a:rPr>
              <a:t>Helpdesk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2542032" y="4590288"/>
            <a:ext cx="1682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Raise and track support tickets.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4526280" y="1078992"/>
            <a:ext cx="4297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</a:rPr>
              <a:t>⭐  Performance Appraisal</a:t>
            </a:r>
            <a:endParaRPr lang="en-US" sz="1400" dirty="0"/>
          </a:p>
        </p:txBody>
      </p:sp>
      <p:sp>
        <p:nvSpPr>
          <p:cNvPr id="37" name="Shape 35"/>
          <p:cNvSpPr/>
          <p:nvPr/>
        </p:nvSpPr>
        <p:spPr>
          <a:xfrm>
            <a:off x="4480560" y="1600200"/>
            <a:ext cx="4315968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498848" y="1709928"/>
            <a:ext cx="384048" cy="475488"/>
          </a:xfrm>
          <a:prstGeom prst="roundRect">
            <a:avLst>
              <a:gd name="adj" fmla="val 28571"/>
            </a:avLst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498848" y="1709928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01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974336" y="169164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Cycle Setup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974336" y="1965960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Admin creates KRA templates and sets date range.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480560" y="2441448"/>
            <a:ext cx="4315968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98848" y="2551176"/>
            <a:ext cx="384048" cy="475488"/>
          </a:xfrm>
          <a:prstGeom prst="roundRect">
            <a:avLst>
              <a:gd name="adj" fmla="val 28571"/>
            </a:avLst>
          </a:prstGeom>
          <a:solidFill>
            <a:srgbClr val="E8870A"/>
          </a:solidFill>
          <a:ln w="12700">
            <a:solidFill>
              <a:srgbClr val="E8870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98848" y="2551176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02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4974336" y="253288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Self-Appraisal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974336" y="2807208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Employee rates own KRAs with supporting comments.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4480560" y="3282696"/>
            <a:ext cx="4315968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498848" y="3392424"/>
            <a:ext cx="384048" cy="475488"/>
          </a:xfrm>
          <a:prstGeom prst="roundRect">
            <a:avLst>
              <a:gd name="adj" fmla="val 28571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498848" y="3392424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03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974336" y="3374136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Manager Review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974336" y="3648456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Manager adds ratings and overall feedback.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4480560" y="4123944"/>
            <a:ext cx="4315968" cy="694944"/>
          </a:xfrm>
          <a:prstGeom prst="roundRect">
            <a:avLst>
              <a:gd name="adj" fmla="val 1578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498848" y="4233672"/>
            <a:ext cx="384048" cy="475488"/>
          </a:xfrm>
          <a:prstGeom prst="roundRect">
            <a:avLst>
              <a:gd name="adj" fmla="val 28571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98848" y="4233672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04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4974336" y="4215384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E3A5F"/>
                </a:solidFill>
              </a:rPr>
              <a:t>Calibration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974336" y="4489704"/>
            <a:ext cx="37307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HR adjusts for org-wide consistency, then locks.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</a:rPr>
              <a:t>SECURITY &amp; TECHNOLOGY STACK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Enterprise-Grade</a:t>
            </a:r>
            <a:endParaRPr lang="en-US" sz="24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</a:rPr>
              <a:t>Security &amp; Modern Stack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5029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Built for production from day one — not bolted 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2148840"/>
            <a:ext cx="3886200" cy="1097280"/>
          </a:xfrm>
          <a:prstGeom prst="roundRect">
            <a:avLst>
              <a:gd name="adj" fmla="val 10000"/>
            </a:avLst>
          </a:prstGeom>
          <a:solidFill>
            <a:srgbClr val="2A3A4F"/>
          </a:solidFill>
          <a:ln w="12700">
            <a:solidFill>
              <a:srgbClr val="2A3A4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" y="214884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🔐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115568" y="22860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JWT Authentication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15568" y="264261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Access tokens (1d) + Refresh tokens (7d) in HTTP-only cookies.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681728" y="2148840"/>
            <a:ext cx="3886200" cy="1097280"/>
          </a:xfrm>
          <a:prstGeom prst="roundRect">
            <a:avLst>
              <a:gd name="adj" fmla="val 10000"/>
            </a:avLst>
          </a:prstGeom>
          <a:solidFill>
            <a:srgbClr val="2A3A4F"/>
          </a:solidFill>
          <a:ln w="12700">
            <a:solidFill>
              <a:srgbClr val="2A3A4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214884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413248" y="22860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RBAC Permissions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13248" y="264261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Module-level view/add/edit/delete per role — enforced at every API call.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84048" y="3520440"/>
            <a:ext cx="3886200" cy="1097280"/>
          </a:xfrm>
          <a:prstGeom prst="roundRect">
            <a:avLst>
              <a:gd name="adj" fmla="val 10000"/>
            </a:avLst>
          </a:prstGeom>
          <a:solidFill>
            <a:srgbClr val="2A3A4F"/>
          </a:solidFill>
          <a:ln w="12700">
            <a:solidFill>
              <a:srgbClr val="2A3A4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" y="352044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115568" y="36576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Encrypted Payroll Data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15568" y="401421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AES-256 salary encryption for all sensitive financial records.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81728" y="3520440"/>
            <a:ext cx="3886200" cy="1097280"/>
          </a:xfrm>
          <a:prstGeom prst="roundRect">
            <a:avLst>
              <a:gd name="adj" fmla="val 10000"/>
            </a:avLst>
          </a:prstGeom>
          <a:solidFill>
            <a:srgbClr val="2A3A4F"/>
          </a:solidFill>
          <a:ln w="12700">
            <a:solidFill>
              <a:srgbClr val="2A3A4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3520440"/>
            <a:ext cx="502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5413248" y="365760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Audit Logging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13248" y="4014216"/>
            <a:ext cx="3017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Every sensitive action logged with user ID, timestamp, and change delta.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84048" y="4663440"/>
            <a:ext cx="969264" cy="310896"/>
          </a:xfrm>
          <a:prstGeom prst="roundRect">
            <a:avLst>
              <a:gd name="adj" fmla="val 35294"/>
            </a:avLst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4663440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C9"/>
                </a:solidFill>
              </a:rPr>
              <a:t>React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463040" y="4663440"/>
            <a:ext cx="969264" cy="310896"/>
          </a:xfrm>
          <a:prstGeom prst="roundRect">
            <a:avLst>
              <a:gd name="adj" fmla="val 35294"/>
            </a:avLst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63040" y="4663440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C9"/>
                </a:solidFill>
              </a:rPr>
              <a:t>Node.js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542032" y="4663440"/>
            <a:ext cx="969264" cy="310896"/>
          </a:xfrm>
          <a:prstGeom prst="roundRect">
            <a:avLst>
              <a:gd name="adj" fmla="val 35294"/>
            </a:avLst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42032" y="4663440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C9"/>
                </a:solidFill>
              </a:rPr>
              <a:t>Express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621024" y="4663440"/>
            <a:ext cx="969264" cy="310896"/>
          </a:xfrm>
          <a:prstGeom prst="roundRect">
            <a:avLst>
              <a:gd name="adj" fmla="val 35294"/>
            </a:avLst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21024" y="4663440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C9"/>
                </a:solidFill>
              </a:rPr>
              <a:t>MySQL 8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700016" y="4663440"/>
            <a:ext cx="969264" cy="310896"/>
          </a:xfrm>
          <a:prstGeom prst="roundRect">
            <a:avLst>
              <a:gd name="adj" fmla="val 35294"/>
            </a:avLst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00016" y="4663440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C9"/>
                </a:solidFill>
              </a:rPr>
              <a:t>JWT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779008" y="4663440"/>
            <a:ext cx="969264" cy="310896"/>
          </a:xfrm>
          <a:prstGeom prst="roundRect">
            <a:avLst>
              <a:gd name="adj" fmla="val 35294"/>
            </a:avLst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79008" y="4663440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C9"/>
                </a:solidFill>
              </a:rPr>
              <a:t>AWS EC2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858000" y="4663440"/>
            <a:ext cx="969264" cy="310896"/>
          </a:xfrm>
          <a:prstGeom prst="roundRect">
            <a:avLst>
              <a:gd name="adj" fmla="val 35294"/>
            </a:avLst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0" y="4663440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C9"/>
                </a:solidFill>
              </a:rPr>
              <a:t>AWS RDS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7936992" y="4663440"/>
            <a:ext cx="969264" cy="310896"/>
          </a:xfrm>
          <a:prstGeom prst="roundRect">
            <a:avLst>
              <a:gd name="adj" fmla="val 35294"/>
            </a:avLst>
          </a:prstGeom>
          <a:solidFill>
            <a:srgbClr val="1A2A3A"/>
          </a:solidFill>
          <a:ln w="12700">
            <a:solidFill>
              <a:srgbClr val="1A2A3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936992" y="4663440"/>
            <a:ext cx="9692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EA5C9"/>
                </a:solidFill>
              </a:rPr>
              <a:t>AWS S3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Cloud-Native AWS Deployment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5836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8C4E0"/>
                </a:solidFill>
              </a:rPr>
              <a:t>Scalable, secure, and highly available — deployed on AWS infrastructure.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143000"/>
            <a:ext cx="7863840" cy="457200"/>
          </a:xfrm>
          <a:prstGeom prst="roundRect">
            <a:avLst>
              <a:gd name="adj" fmla="val 24000"/>
            </a:avLst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43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USERS (Browser / Mobile)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297680" y="162763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↓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1792224" cy="804672"/>
          </a:xfrm>
          <a:prstGeom prst="roundRect">
            <a:avLst>
              <a:gd name="adj" fmla="val 13636"/>
            </a:avLst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011680"/>
            <a:ext cx="1792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Route 53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(DNS)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23744" y="2011680"/>
            <a:ext cx="1792224" cy="804672"/>
          </a:xfrm>
          <a:prstGeom prst="roundRect">
            <a:avLst>
              <a:gd name="adj" fmla="val 13636"/>
            </a:avLst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23744" y="2011680"/>
            <a:ext cx="1792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ACM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(SSL Cert)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90288" y="2011680"/>
            <a:ext cx="1792224" cy="804672"/>
          </a:xfrm>
          <a:prstGeom prst="roundRect">
            <a:avLst>
              <a:gd name="adj" fmla="val 13636"/>
            </a:avLst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90288" y="2011680"/>
            <a:ext cx="1792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CloudFront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(CDN)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656832" y="2011680"/>
            <a:ext cx="1792224" cy="804672"/>
          </a:xfrm>
          <a:prstGeom prst="roundRect">
            <a:avLst>
              <a:gd name="adj" fmla="val 13636"/>
            </a:avLst>
          </a:prstGeom>
          <a:solidFill>
            <a:srgbClr val="E8870A"/>
          </a:solidFill>
          <a:ln w="12700">
            <a:solidFill>
              <a:srgbClr val="E8870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56832" y="2011680"/>
            <a:ext cx="179222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(React App)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297680" y="2834640"/>
            <a:ext cx="548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3A5F"/>
                </a:solidFill>
              </a:rPr>
              <a:t>↓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457200" y="3200400"/>
            <a:ext cx="1792224" cy="960120"/>
          </a:xfrm>
          <a:prstGeom prst="roundRect">
            <a:avLst>
              <a:gd name="adj" fmla="val 1142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3200400"/>
            <a:ext cx="16093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EC2 (t3.small)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Node.js + Nginx + PM2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523744" y="3200400"/>
            <a:ext cx="1792224" cy="960120"/>
          </a:xfrm>
          <a:prstGeom prst="roundRect">
            <a:avLst>
              <a:gd name="adj" fmla="val 11429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615184" y="3200400"/>
            <a:ext cx="16093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RDS MySQL 8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Managed DB + Auto Backup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90288" y="3200400"/>
            <a:ext cx="1792224" cy="960120"/>
          </a:xfrm>
          <a:prstGeom prst="roundRect">
            <a:avLst>
              <a:gd name="adj" fmla="val 11429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681728" y="3200400"/>
            <a:ext cx="16093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S3 Uploads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Documents &amp; Files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656832" y="3200400"/>
            <a:ext cx="1792224" cy="960120"/>
          </a:xfrm>
          <a:prstGeom prst="roundRect">
            <a:avLst>
              <a:gd name="adj" fmla="val 11429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48272" y="3200400"/>
            <a:ext cx="16093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SES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b="1" dirty="0">
                <a:solidFill>
                  <a:srgbClr val="FFFFFF"/>
                </a:solidFill>
              </a:rPr>
              <a:t>Transactional Email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315968"/>
            <a:ext cx="8229600" cy="402336"/>
          </a:xfrm>
          <a:prstGeom prst="roundRect">
            <a:avLst>
              <a:gd name="adj" fmla="val 2727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4315968"/>
            <a:ext cx="7955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</a:rPr>
              <a:t>🔐  IAM Roles — EC2 accesses S3 and SES via IAM roles. No hardcoded credentials. All data encrypted at rest and in transit.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E8870A"/>
          </a:solidFill>
          <a:ln w="12700">
            <a:solidFill>
              <a:srgbClr val="E8870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Why Choose Our HRMS?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766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</a:rPr>
              <a:t>4 reasons our clients make the switch — and never look back.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143000"/>
            <a:ext cx="3913632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3258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316736" y="13075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316736" y="1563624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Complete Lifecycle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85216" y="1965960"/>
            <a:ext cx="35478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From job posting to exit interview, every HR touchpoint is handled in one system — no integrations, no duct tape.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81728" y="1143000"/>
            <a:ext cx="3913632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46320" y="132588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614416" y="130759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C9"/>
                </a:solidFill>
              </a:rPr>
              <a:t>02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14416" y="1563624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Zero Compliance Risk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82896" y="1965960"/>
            <a:ext cx="35478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Auto-computed PF, ESI, PT, TDS, Gratuity with one-click ECR and Form 16 generation. Stay audit-ready always.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" y="3044952"/>
            <a:ext cx="3913632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322783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48640" y="3227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💪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316736" y="32095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6A34A"/>
                </a:solidFill>
              </a:rPr>
              <a:t>03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316736" y="34655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Employee Empowerment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5216" y="3867912"/>
            <a:ext cx="35478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Self-service portal for payslips, leave, IT declarations, and helpdesk — freeing your HR team for strategic work.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81728" y="3044952"/>
            <a:ext cx="3913632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227832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32278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☁️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5614416" y="3209544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614416" y="3465576"/>
            <a:ext cx="2816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Cloud-Native &amp; Secure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82896" y="3867912"/>
            <a:ext cx="3547872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4748B"/>
                </a:solidFill>
              </a:rPr>
              <a:t>AWS-hosted with JWT auth, AES-256 encryption, RBAC, and audit logs. 99.9% uptime SLA on RDS + EC2.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D4A017"/>
                </a:solidFill>
              </a:rPr>
              <a:t>BUSINESS IMPACT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Measurable ROI from Day One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C4E0"/>
                </a:solidFill>
              </a:rPr>
              <a:t>Our clients see real, trackable improvements within the first quarter of deployment.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84048" y="1508760"/>
            <a:ext cx="2578608" cy="1389888"/>
          </a:xfrm>
          <a:prstGeom prst="roundRect">
            <a:avLst>
              <a:gd name="adj" fmla="val 7895"/>
            </a:avLst>
          </a:prstGeom>
          <a:solidFill>
            <a:srgbClr val="162840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4048" y="1508760"/>
            <a:ext cx="2578608" cy="128016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73352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4A017"/>
                </a:solidFill>
              </a:rPr>
              <a:t>80%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75488" y="2313432"/>
            <a:ext cx="2395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Reduction in payroll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processing time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236976" y="1508760"/>
            <a:ext cx="2578608" cy="1389888"/>
          </a:xfrm>
          <a:prstGeom prst="roundRect">
            <a:avLst>
              <a:gd name="adj" fmla="val 7895"/>
            </a:avLst>
          </a:prstGeom>
          <a:solidFill>
            <a:srgbClr val="162840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36976" y="1508760"/>
            <a:ext cx="2578608" cy="128016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36976" y="1673352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EA5C9"/>
                </a:solidFill>
              </a:rPr>
              <a:t>60%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3328416" y="2313432"/>
            <a:ext cx="2395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Fewer HR support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tickets and queries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089904" y="1508760"/>
            <a:ext cx="2578608" cy="1389888"/>
          </a:xfrm>
          <a:prstGeom prst="roundRect">
            <a:avLst>
              <a:gd name="adj" fmla="val 7895"/>
            </a:avLst>
          </a:prstGeom>
          <a:solidFill>
            <a:srgbClr val="162840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89904" y="1508760"/>
            <a:ext cx="2578608" cy="12801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89904" y="1673352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6A34A"/>
                </a:solidFill>
              </a:rPr>
              <a:t>100%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181344" y="2313432"/>
            <a:ext cx="2395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Statutory compliance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automation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84048" y="3136392"/>
            <a:ext cx="2578608" cy="1389888"/>
          </a:xfrm>
          <a:prstGeom prst="roundRect">
            <a:avLst>
              <a:gd name="adj" fmla="val 7895"/>
            </a:avLst>
          </a:prstGeom>
          <a:solidFill>
            <a:srgbClr val="162840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048" y="3136392"/>
            <a:ext cx="2578608" cy="128016"/>
          </a:xfrm>
          <a:prstGeom prst="rect">
            <a:avLst/>
          </a:prstGeom>
          <a:solidFill>
            <a:srgbClr val="E8870A"/>
          </a:solidFill>
          <a:ln w="12700">
            <a:solidFill>
              <a:srgbClr val="E8870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300984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8870A"/>
                </a:solidFill>
              </a:rPr>
              <a:t>3×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475488" y="3941064"/>
            <a:ext cx="2395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Faster onboarding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vs. manual process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36976" y="3136392"/>
            <a:ext cx="2578608" cy="1389888"/>
          </a:xfrm>
          <a:prstGeom prst="roundRect">
            <a:avLst>
              <a:gd name="adj" fmla="val 7895"/>
            </a:avLst>
          </a:prstGeom>
          <a:solidFill>
            <a:srgbClr val="162840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36976" y="3136392"/>
            <a:ext cx="2578608" cy="128016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236976" y="3300984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E11D48"/>
                </a:solidFill>
              </a:rPr>
              <a:t>0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3328416" y="3941064"/>
            <a:ext cx="2395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Payroll errors with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auto formula engine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089904" y="3136392"/>
            <a:ext cx="2578608" cy="1389888"/>
          </a:xfrm>
          <a:prstGeom prst="roundRect">
            <a:avLst>
              <a:gd name="adj" fmla="val 7895"/>
            </a:avLst>
          </a:prstGeom>
          <a:solidFill>
            <a:srgbClr val="162840"/>
          </a:solidFill>
          <a:ln w="12700">
            <a:solidFill>
              <a:srgbClr val="16284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089904" y="3136392"/>
            <a:ext cx="2578608" cy="128016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089904" y="3300984"/>
            <a:ext cx="25786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7C3AED"/>
                </a:solidFill>
              </a:rPr>
              <a:t>24/7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6181344" y="3941064"/>
            <a:ext cx="23957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Employee self-service</a:t>
            </a:r>
            <a:endParaRPr lang="en-US" sz="1000" dirty="0"/>
          </a:p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E2E8F0"/>
                </a:solidFill>
              </a:rPr>
              <a:t>access via portal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7FA"/>
          </a:solidFill>
          <a:ln w="12700">
            <a:solidFill>
              <a:srgbClr val="F4F7F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All Modules at a Glance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29184" y="932688"/>
            <a:ext cx="1536192" cy="166420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9184" y="932688"/>
            <a:ext cx="1536192" cy="201168"/>
          </a:xfrm>
          <a:prstGeom prst="rect">
            <a:avLst/>
          </a:prstGeom>
          <a:solidFill>
            <a:srgbClr val="0EA5C9"/>
          </a:solidFill>
          <a:ln w="12700">
            <a:solidFill>
              <a:srgbClr val="0EA5C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" y="118872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384048" y="168249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Recruitment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84048" y="1956816"/>
            <a:ext cx="1426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</a:rPr>
              <a:t>Jobs · Candidates · Interviews · Offer Letters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048256" y="932688"/>
            <a:ext cx="1536192" cy="166420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048256" y="932688"/>
            <a:ext cx="1536192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48256" y="118872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👤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103120" y="168249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Employee Mgmt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103120" y="1956816"/>
            <a:ext cx="1426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</a:rPr>
              <a:t>Profile · Org Chart · Documents · Roles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3767328" y="932688"/>
            <a:ext cx="1536192" cy="166420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67328" y="932688"/>
            <a:ext cx="1536192" cy="201168"/>
          </a:xfrm>
          <a:prstGeom prst="rect">
            <a:avLst/>
          </a:prstGeom>
          <a:solidFill>
            <a:srgbClr val="E8870A"/>
          </a:solidFill>
          <a:ln w="12700">
            <a:solidFill>
              <a:srgbClr val="E8870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67328" y="118872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💰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822192" y="168249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Payroll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822192" y="1956816"/>
            <a:ext cx="1426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</a:rPr>
              <a:t>Salary Structures · Run Payroll · Payslips · Form 16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486400" y="932688"/>
            <a:ext cx="1536192" cy="166420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0" y="932688"/>
            <a:ext cx="1536192" cy="201168"/>
          </a:xfrm>
          <a:prstGeom prst="rect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0" y="118872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📅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541264" y="168249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Leave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541264" y="1956816"/>
            <a:ext cx="1426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</a:rPr>
              <a:t>Types · Calendar · Approvals · Carry Forward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7205472" y="932688"/>
            <a:ext cx="1536192" cy="166420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05472" y="932688"/>
            <a:ext cx="1536192" cy="20116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205472" y="1188720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260336" y="1682496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260336" y="1956816"/>
            <a:ext cx="1426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</a:rPr>
              <a:t>Punch · Regularization · Reports · LOP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329184" y="2871216"/>
            <a:ext cx="1536192" cy="166420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29184" y="2871216"/>
            <a:ext cx="1536192" cy="20116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184" y="3127248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84048" y="362102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Appraisal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84048" y="3895344"/>
            <a:ext cx="1426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</a:rPr>
              <a:t>KRA Templates · Self Review · Calibration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048256" y="2871216"/>
            <a:ext cx="1536192" cy="166420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2048256" y="2871216"/>
            <a:ext cx="1536192" cy="201168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048256" y="3127248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2103120" y="362102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IT Declaration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103120" y="3895344"/>
            <a:ext cx="1426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</a:rPr>
              <a:t>80C · HRA · NPS · TDS Recalculation · Form 16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767328" y="2871216"/>
            <a:ext cx="1536192" cy="166420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767328" y="2871216"/>
            <a:ext cx="1536192" cy="20116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767328" y="3127248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🚪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3822192" y="362102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Resignation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822192" y="3895344"/>
            <a:ext cx="1426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</a:rPr>
              <a:t>Notice Period · Exit Checklist · F&amp;F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5486400" y="2871216"/>
            <a:ext cx="1536192" cy="166420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5486400" y="2871216"/>
            <a:ext cx="1536192" cy="201168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486400" y="3127248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🎫</a:t>
            </a:r>
            <a:endParaRPr lang="en-US" sz="2200" dirty="0"/>
          </a:p>
        </p:txBody>
      </p:sp>
      <p:sp>
        <p:nvSpPr>
          <p:cNvPr id="48" name="Text 46"/>
          <p:cNvSpPr/>
          <p:nvPr/>
        </p:nvSpPr>
        <p:spPr>
          <a:xfrm>
            <a:off x="5541264" y="362102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Helpdesk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5541264" y="3895344"/>
            <a:ext cx="1426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</a:rPr>
              <a:t>Tickets · Assignment · Resolution · SLA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7205472" y="2871216"/>
            <a:ext cx="1536192" cy="166420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205472" y="2871216"/>
            <a:ext cx="1536192" cy="20116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205472" y="3127248"/>
            <a:ext cx="15361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🕐</a:t>
            </a:r>
            <a:endParaRPr lang="en-US" sz="2200" dirty="0"/>
          </a:p>
        </p:txBody>
      </p:sp>
      <p:sp>
        <p:nvSpPr>
          <p:cNvPr id="53" name="Text 51"/>
          <p:cNvSpPr/>
          <p:nvPr/>
        </p:nvSpPr>
        <p:spPr>
          <a:xfrm>
            <a:off x="7260336" y="3621024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3A5F"/>
                </a:solidFill>
              </a:rPr>
              <a:t>Timesheet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7260336" y="3895344"/>
            <a:ext cx="1426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750" dirty="0">
                <a:solidFill>
                  <a:srgbClr val="64748B"/>
                </a:solidFill>
              </a:rPr>
              <a:t>Project Logging · Manager Approval · Reports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E30"/>
          </a:solidFill>
          <a:ln w="12700">
            <a:solidFill>
              <a:srgbClr val="0D1E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371600" y="914400"/>
            <a:ext cx="6400800" cy="3200400"/>
          </a:xfrm>
          <a:prstGeom prst="roundRect">
            <a:avLst>
              <a:gd name="adj" fmla="val 342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Ready to Transform Your HR?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A8C4E0"/>
                </a:solidFill>
              </a:rPr>
              <a:t>Book a free demo and see how HRMS can cut your HR overhead by 80%.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926080" y="2423160"/>
            <a:ext cx="3291840" cy="658368"/>
          </a:xfrm>
          <a:prstGeom prst="roundRect">
            <a:avLst>
              <a:gd name="adj" fmla="val 16667"/>
            </a:avLst>
          </a:prstGeom>
          <a:solidFill>
            <a:srgbClr val="E8870A"/>
          </a:solidFill>
          <a:ln w="12700">
            <a:solidFill>
              <a:srgbClr val="E8870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926080" y="2423160"/>
            <a:ext cx="3291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📅  Book a Free Demo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7280" y="3246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E0"/>
                </a:solidFill>
              </a:rPr>
              <a:t>📧 hr@natit.in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0" y="3246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E0"/>
                </a:solidFill>
              </a:rPr>
              <a:t>🌐 www.natit.in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217920" y="3246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8C4E0"/>
                </a:solidFill>
              </a:rPr>
              <a:t>📞 +91 98765 43210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0" y="4773168"/>
            <a:ext cx="9144000" cy="374904"/>
          </a:xfrm>
          <a:prstGeom prst="rect">
            <a:avLst/>
          </a:prstGeom>
          <a:solidFill>
            <a:srgbClr val="091524"/>
          </a:solidFill>
          <a:ln w="12700">
            <a:solidFill>
              <a:srgbClr val="0915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4773168"/>
            <a:ext cx="822960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05870"/>
                </a:solidFill>
              </a:rPr>
              <a:t>NAT IT Solutions — HRMS v1.0  ·  Confidential Client Presentation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HRMS — Human Resource Management System</dc:title>
  <dc:subject>HRMS Marketing Deck</dc:subject>
  <dc:creator>NAT IT Solutions</dc:creator>
  <cp:lastModifiedBy>NAT IT Solutions</cp:lastModifiedBy>
  <cp:revision>1</cp:revision>
  <dcterms:created xsi:type="dcterms:W3CDTF">2026-08-03T09:30:18Z</dcterms:created>
  <dcterms:modified xsi:type="dcterms:W3CDTF">2026-08-03T09:30:18Z</dcterms:modified>
</cp:coreProperties>
</file>